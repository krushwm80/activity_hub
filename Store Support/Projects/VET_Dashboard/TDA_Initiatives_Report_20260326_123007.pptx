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TDA Initiatives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C00"/>
                </a:solidFill>
              </a:defRPr>
            </a:pPr>
            <a:r>
              <a:t>Executive Dashboard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/>
            </a:pPr>
            <a:r>
              <a:t>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Activity - Store Support - Practice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Intake Hub Feedback &amp; Updates - Do Not Archive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Mkt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Sporting Goods D9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(1/7)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3rd Party Cut Fruit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- Bay Configuration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- Lockerless Check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Discontinuing Vacuum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Predictive Wait Time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 Labor Test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Breakroom Reinvention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Claims Receiving and Grading Returns in Bins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(2/7)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D46 Cosmetics Clearance Fixture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Delivery Notifications – KDP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Receiving in MyWalmart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Alive by 5 \| Mondelez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Deli MDs- Shrink Reduction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Dunkin Donut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Enterprise Safety - Safety Radar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Enterprise Safety Hazard Hunt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(3/7)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Entertainment Security Cage Aisle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Fashion Beacon Safety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Fashion Legacy Elevation - POC and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Field Password Modernization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Cut Fruit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Pallet Tracking - Wrong Pallet Wrong 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RDC Case Tagging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Food Safety SPARK Checklist Enhancement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(4/7)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Fresh 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Fresh RFID Enabled CVP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GTA: Physical Time Clock Replacement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Gatik Autonomous Box Truck Pilot – Lancaster PDC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High Ticket Receiving Simplification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Home/Baby Vignette Ops Transition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Lawn &amp; Garden Aisle 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Men's Fashion Large Capacity Table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(5/7)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Modular Health CV/AR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Moving Store Return Restocking to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My Team’s Time - Manager Experience on my.walmart.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Navilens - Wayfinding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Paystub printer replacement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Phone Number Capture on Staffed Lanes - CoSTL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Plastic Bag Recycling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Hardware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(6/7)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Home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Toys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SWAS Planning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Vizpick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Tire Increased Delivery Frequency and Receiving 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Top Stock Cart Improvements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Transactability: Beginning of Life (BOL)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VizPick Annual Inventory - OH Adjustments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POC/POT (7/7)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VizPick Annual Inventory - Pre-count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Warehouse Claims: Damages - Receiving in MyWalmart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Warehouse Steel Puller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 Care Customer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Wearable 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WebEx Cloud PBX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ACC: Digitizing Slots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Checkout Anywhere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CSD Topstock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Project Retro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Lawn &amp; Garden D16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Second Shift BOS Enhancements: Intraday Restocking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Smart Deferred Auth for Walmart Stores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Stocking Operating Model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Pending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Vendor Claims in Claims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Off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15628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Battery Transport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Body Worn Cameras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COSTL Staff Lane Registers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Mondelez Cart Rollout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1809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Dept 12: FormulaPro Paint Upgrade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194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Digital Shelf Label (DSL) -- GEN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Digital Shelf Label (DSL) -- GEN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870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Digitizing Lock Solutions - Phase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Digitizing Lock Solutions - 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Firefly - Pallet Tracking - 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1448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MyWalmart 2.0 Proof of Concept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4448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3rd Shift (D1/SC)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Sidekick Pallet Stocking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Spill Station Reform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697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4387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6974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Temporary Labor in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017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017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457200" y="333755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Walmart Milk Plant - Georgia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33755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Continuous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3375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514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3375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Roll/Deploy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Walmart Milk Plant Texas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Initiatives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7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1CE"/>
                </a:solidFill>
              </a:defRPr>
            </a:pPr>
            <a:r>
              <a:t>2700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Total Stores Impacted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5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On Track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79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F76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1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630C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1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At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097280"/>
            <a:ext cx="1554480" cy="731520"/>
          </a:xfrm>
          <a:prstGeom prst="rect">
            <a:avLst/>
          </a:prstGeom>
          <a:solidFill>
            <a:srgbClr val="F5F5F5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188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3545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08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BagMo - Bag Holder Riser and Bag Rack Increase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6576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" y="39776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Beauty Operating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9776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776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9776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Delivery Notifications – Pepsi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97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854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97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Priority Pass - Frito 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617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529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177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 - Priority Pass – Pepsi Beverage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937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937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600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377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457200" y="5257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DSD: Priority Pass - Original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257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457200" y="5577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Dairy Cooler Fixture Test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5778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5778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7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Johnson Controls’ ShopperTrak Traffic Labor Optimi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8978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89787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Phase: Test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1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No Exception Pick Walks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097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097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Phone Number Capture on Staffed Lanes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173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1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1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RDC Pallet Scanning:  Receiving in MyWalmart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37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174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RFID GM Expansion - Stationery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057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7630C"/>
                </a:solidFill>
              </a:defRPr>
            </a:pPr>
            <a:r>
              <a:t>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57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0574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39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</a:defRPr>
            </a:pPr>
            <a:r>
              <a:t>Workforce Modernization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377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7C10"/>
                </a:solidFill>
              </a:defRPr>
            </a:pPr>
            <a:r>
              <a:t>On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71CE"/>
                </a:solidFill>
              </a:defRPr>
            </a:pPr>
            <a:r>
              <a:t>278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3774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Data Source: wmt-assetprotection-prod.Store_Support_Dev.Output_TDA Report | Generated: March 26,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Complete Initiative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80000"/>
              </a:lnSpc>
              <a:defRPr sz="1400">
                <a:solidFill>
                  <a:srgbClr val="212121"/>
                </a:solidFill>
              </a:defRPr>
            </a:pPr>
            <a:r>
              <a:t>Total Initiatives: 96</a:t>
            </a:r>
            <a:br/>
            <a:r>
              <a:t>Total Stores Impacted: 18,359</a:t>
            </a:r>
            <a:br/>
            <a:r>
              <a:t>On Track: 76</a:t>
            </a:r>
            <a:br/>
            <a:r>
              <a:t>At Risk: 6</a:t>
            </a:r>
            <a:br/>
            <a:r>
              <a:t>Off Track: 8</a:t>
            </a:r>
            <a:br/>
            <a:br/>
            <a:r>
              <a:t>Key Insights:</a:t>
            </a:r>
            <a:br/>
            <a:r>
              <a:t>• 79.2% of initiatives are on track</a:t>
            </a:r>
            <a:br/>
            <a:r>
              <a:t>• 6.2% of initiatives are at risk</a:t>
            </a:r>
            <a:br/>
            <a:r>
              <a:t>• 8.3% of initiatives are off track</a:t>
            </a:r>
            <a:br/>
            <a:r>
              <a:t>• Average stores per initiative: 191</a:t>
            </a:r>
            <a:br/>
            <a:r>
              <a:t>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Report Generated: March 26, 2026 at 12:30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