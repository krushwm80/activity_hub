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CC00"/>
                </a:solidFill>
              </a:defRPr>
            </a:pPr>
            <a:r>
              <a:t>Walmart Enterprise Transformation -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457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/>
            </a:pPr>
            <a:r>
              <a:t>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Complete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Initiatives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Stores Impacted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On Track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79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F763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1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7630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At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C3545"/>
                </a:solidFill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Off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Activity - Store Support - Practice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6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57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57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57200" y="39776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Intake Hub Feedback &amp; Updates - Do Not Archive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9776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9776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9776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Mkt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Initiatives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Stores Impacted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On Track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79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F763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1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7630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At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C3545"/>
                </a:solidFill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Off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RFID GM Expansion - Sporting Goods D9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6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57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57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POC/POT (1/7)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Initiatives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655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Stores Impacted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</a:defRPr>
            </a:pPr>
            <a: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On Track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79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F763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1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7630C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At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C3545"/>
                </a:solidFill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Off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3rd Party Cut Fruit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6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57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57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57200" y="39776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ACC - Bay Configuration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9776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9776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9776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ACC - Lockerless Check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2976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297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2976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457200" y="46177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ACC: Discontinuing Vacuum 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6177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617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6177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457200" y="49377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ACC: Predictive Wait Time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937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9377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457200" y="5257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Acc Labor Test 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257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257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257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457200" y="55778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Breakroom Reinvention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55778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7630C"/>
                </a:solidFill>
              </a:defRPr>
            </a:pPr>
            <a:r>
              <a:t>At Risk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577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577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457200" y="589787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Claims Receiving and Grading Returns in Bins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89787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58978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89787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52" name="TextBox 5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POC/POT (2/7)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D46 Cosmetics Clearance Fixture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 - Delivery Notifications – KDP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 - Receiving in MyWalmart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DSD: Alive by 5 \| Mondelez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Deli MDs- Shrink Reduction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Dunkin Donut Strategy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697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97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97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Enterprise Safety - Safety Radar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017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17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17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457200" y="333755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Enterprise Safety Hazard Hunt 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33755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3375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333755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POC/POT (3/7)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Entertainment Security Cage Aisle 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Fashion Beacon Safety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Fashion Legacy Elevation - POC and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Field Password Modernization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Firefly - Cut Fruit Tracking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Firefly - Pallet Tracking - Wrong Pallet Wrong Sto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697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97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97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Firefly - RDC Case Tagging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017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17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17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457200" y="333755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Food Safety SPARK Checklist Enhancement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33755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3375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333755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POC/POT (4/7)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Fresh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Fresh RFID Enabled CVP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7630C"/>
                </a:solidFill>
              </a:defRPr>
            </a:pPr>
            <a:r>
              <a:t>At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GTA: Physical Time Clock Replacement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Gatik Autonomous Box Truck Pilot – Lancaster PDC 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High Ticket Receiving Simplification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Home/Baby Vignette Ops Transition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697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97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97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Lawn &amp; Garden Aisle Location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017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17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17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457200" y="333755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Men's Fashion Large Capacity Table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33755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3375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333755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POC/POT (5/7)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Modular Health CV/AR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Moving Store Return Restocking to Claims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My Team’s Time - Manager Experience on my.walmart.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Navilens - Wayfinding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Paystub printer replacement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7630C"/>
                </a:solidFill>
              </a:defRPr>
            </a:pPr>
            <a:r>
              <a:t>At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Plastic Bag Recycling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697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97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97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RFID GM Expansion - Hardware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017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17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17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457200" y="333755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RFID GM Expansion - Home Departments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33755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3375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333755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POC/POT (6/7)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RFID GM Expansion - Toys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SWAS Planning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Sidekick Vizpick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7630C"/>
                </a:solidFill>
              </a:defRPr>
            </a:pPr>
            <a:r>
              <a:t>At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Tire Increased Delivery Frequency and Receiving 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Top Stock Cart Improvements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Transactability: Beginning of Life (BOL)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697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97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97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VizPick Annual Inventory - OH Adjustments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017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17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17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457200" y="333755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VizPick Annual Inventory - Pre-count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33755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3375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333755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POC/POT (7/7)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Warehouse Claims: Damages - Receiving in MyWalmart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Warehouse Steel Puller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We Care Customer 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Wearable Tech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WebEx Cloud PBX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Pending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Initiatives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Stores Impacted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</a:defRPr>
            </a:pPr>
            <a: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On Track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79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F763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1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7630C"/>
                </a:solidFill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At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C3545"/>
                </a:solidFill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Off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3P From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6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57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57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57200" y="39776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ACC: Digitizing Slots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9776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7630C"/>
                </a:solidFill>
              </a:defRPr>
            </a:pPr>
            <a:r>
              <a:t>At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9776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9776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Checkout Anywhere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2976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297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2976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457200" y="46177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DSD: CSD Topstock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6177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617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6177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457200" y="49377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Project Retro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937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9377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457200" y="5257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RFID GM Expansion - Lawn &amp; Garden D16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257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257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257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457200" y="55778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Second Shift BOS Enhancements: Intraday Restocking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55778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577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577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457200" y="589787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Smart Deferred Auth for Walmart Stores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89787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58978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89787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52" name="TextBox 5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Pending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Stocking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Vendor Claims in Claims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DC3545"/>
                </a:solidFill>
              </a:defRPr>
            </a:pPr>
            <a:r>
              <a:t>Off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Roll/Deploy (1/3)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Initiatives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14895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Stores Impacted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</a:defRPr>
            </a:pPr>
            <a: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On Track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79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F763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1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7630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At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C3545"/>
                </a:solidFill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Off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Battery Transport Cart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6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57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57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57200" y="39776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Body Worn Cameras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9776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9776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9776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COSTL Staff Lane Registers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2976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297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2976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457200" y="46177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DSD: Mondelez Cart 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6177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617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1809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6177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457200" y="49377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Dept 12: FormulaPro Paint Upgrade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937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9377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457200" y="5257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Digital Shelf Label (DSL) -- GEN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257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Continuous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257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772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257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457200" y="55778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Digital Shelf Label (DSL) -- GEN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55778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Continuous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577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772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577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457200" y="589787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Digitizing Lock Solutions - Phase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89787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Continuous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58978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89787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52" name="TextBox 5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Roll/Deploy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Digitizing Lock Solutions - Phase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Continuous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Firefly - Pallet Tracking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Continuous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MyWalmart 2.0 Proof of Concept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4448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Sidekick 3rd Shift (D1/SC)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Sidekick Pallet Stocking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Spill Station Reform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697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97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4081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97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57200" y="3017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Temporary Labor in Stores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017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017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017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457200" y="333755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Walmart Milk Plant - Georgia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33755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Continuous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33755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514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333755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Roll/Deploy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Walmart Milk Plant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673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Test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Initiatives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1CE"/>
                </a:solidFill>
              </a:defRPr>
            </a:pPr>
            <a:r>
              <a:t>2696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Total Stores Impacted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</a:defRPr>
            </a:pPr>
            <a: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On Track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79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F763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1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7630C"/>
                </a:solidFill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At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097280"/>
            <a:ext cx="1554480" cy="731520"/>
          </a:xfrm>
          <a:prstGeom prst="rect">
            <a:avLst/>
          </a:prstGeom>
          <a:solidFill>
            <a:srgbClr val="F5F5F5"/>
          </a:solidFill>
          <a:ln w="254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C3545"/>
                </a:solidFill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508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Off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BagMo - Bag Holder Riser and Bag Rack Increase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6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576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657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57200" y="39776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Beauty Operating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9776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9776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9776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57200" y="42976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 - Delivery Notifications – Pepsi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2976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297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854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2976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457200" y="46177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 - Priority Pass - Frito Lay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6177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617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529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6177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457200" y="49377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 - Priority Pass – Pepsi Beverage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937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9377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457200" y="52578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DSD: Priority Pass - Original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2578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257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257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457200" y="55778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Dairy Cooler Fixture 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557784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577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5778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457200" y="589787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Johnson Controls’ ShopperTrak Traffic Labor Optimi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89787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58978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89787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52" name="TextBox 5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Phase: Test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1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No Exception Pick Walks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0972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0972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141731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Phone Number Capture on Staffed Lanes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1731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4173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41731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Phone Number Capture on Staffed Lanes - CoSTL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373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737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7373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RDC Pallet Scanning:  Receiving in MyWalmart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057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574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0574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2377439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RFID GM Expansion - Stationery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377439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7630C"/>
                </a:solidFill>
              </a:defRPr>
            </a:pPr>
            <a:r>
              <a:t>At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3774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377439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12121"/>
                </a:solidFill>
              </a:defRPr>
            </a:pPr>
            <a:r>
              <a:t>Workforce Modernization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6974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7C10"/>
                </a:solidFill>
              </a:defRPr>
            </a:pPr>
            <a:r>
              <a:t>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6974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71CE"/>
                </a:solidFill>
              </a:defRPr>
            </a:pPr>
            <a:r>
              <a:t>278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697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V.E.T. Executive Report | Data Source: wmt-assetprotection-prod.Store_Support_Dev | Generated: March 30,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E3A8A"/>
                </a:solidFill>
              </a:defRPr>
            </a:pPr>
            <a:r>
              <a:t>Complete Initiative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lnSpc>
                <a:spcPct val="180000"/>
              </a:lnSpc>
              <a:defRPr sz="1400">
                <a:solidFill>
                  <a:srgbClr val="212121"/>
                </a:solidFill>
              </a:defRPr>
            </a:pPr>
            <a:r>
              <a:t>Total Initiatives: 97</a:t>
            </a:r>
            <a:br/>
            <a:r>
              <a:t>Total Stores Impacted: 18,277</a:t>
            </a:r>
            <a:br/>
            <a:r>
              <a:t>On Track: 77</a:t>
            </a:r>
            <a:br/>
            <a:r>
              <a:t>At Risk: 6</a:t>
            </a:r>
            <a:br/>
            <a:r>
              <a:t>Off Track: 8</a:t>
            </a:r>
            <a:br/>
            <a:br/>
            <a:r>
              <a:t>Key Insights:</a:t>
            </a:r>
            <a:br/>
            <a:r>
              <a:t>• 79.4% of initiatives are on track</a:t>
            </a:r>
            <a:br/>
            <a:r>
              <a:t>• 6.2% of initiatives are at risk</a:t>
            </a:r>
            <a:br/>
            <a:r>
              <a:t>• 8.2% of initiatives are off track</a:t>
            </a:r>
            <a:br/>
            <a:r>
              <a:t>• Average stores per initiative: 188</a:t>
            </a:r>
            <a:br/>
            <a:r>
              <a:t>     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666666"/>
                </a:solidFill>
              </a:defRPr>
            </a:pPr>
            <a:r>
              <a:t>Report Generated: March 30, 2026 at 12:51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