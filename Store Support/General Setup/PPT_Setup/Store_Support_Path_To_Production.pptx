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66" r:id="rId12"/>
    <p:sldId id="267" r:id="rId13"/>
    <p:sldId id="268" r:id="rId14"/>
    <p:sldId id="269" r:id="rId15"/>
    <p:sldId id="270" r:id="rId16"/>
    <p:sldId id="271" r:id="rId17"/>
    <p:sldId id="282" r:id="rId18"/>
    <p:sldId id="273" r:id="rId19"/>
    <p:sldId id="274" r:id="rId20"/>
    <p:sldId id="275" r:id="rId21"/>
    <p:sldId id="276" r:id="rId22"/>
    <p:sldId id="277" r:id="rId23"/>
    <p:sldId id="278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5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542" y="2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9C05E-3BB8-4F77-A5B8-7BE9D6FE396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C72A4-D84E-4016-9DE0-331226D64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1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12BD-CC08-3916-A519-B825CBBA9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F234A-FFFF-C189-3C22-A34BE3B94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F2DB8-2EE6-F7C1-C86B-6A3F4BD53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9F0C-16BD-F69F-A633-05BF2AAFF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EC2325-D96A-485A-B4B9-84F0A82241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60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0148" y="818984"/>
            <a:ext cx="4947184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Two-Part Investment Proposal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48905" y="4797188"/>
            <a:ext cx="4538427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FFFF"/>
                </a:solidFill>
              </a:defRPr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Path to Production Infrastructure + Activity Hub Platform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67203" y="5486400"/>
            <a:ext cx="60095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C220"/>
                </a:solidFill>
              </a:defRPr>
            </a:pPr>
            <a:r>
              <a:rPr lang="en-US" sz="2400"/>
              <a:t>Investment: $464K over 3 years | ROI: 5,420%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3B712-E1EC-C637-78CA-9DEA081A3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141" y="1890596"/>
            <a:ext cx="2849885" cy="2849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4580" y="42184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71CE"/>
                </a:solidFill>
              </a:defRPr>
            </a:pPr>
            <a:r>
              <a:rPr lang="en-US" sz="3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Two Part Solution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7107D-7F04-9003-2310-CBD1E2A230E2}"/>
              </a:ext>
            </a:extLst>
          </p:cNvPr>
          <p:cNvSpPr txBox="1"/>
          <p:nvPr/>
        </p:nvSpPr>
        <p:spPr>
          <a:xfrm>
            <a:off x="354072" y="2420445"/>
            <a:ext cx="4114800" cy="54864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PART 1: Path to Production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A5988-9FA5-6815-0651-51DEBC1F2CC8}"/>
              </a:ext>
            </a:extLst>
          </p:cNvPr>
          <p:cNvSpPr txBox="1"/>
          <p:nvPr/>
        </p:nvSpPr>
        <p:spPr>
          <a:xfrm>
            <a:off x="354072" y="3060525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🏗️ Infrastructure Foundation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$129K one-time + $90K/year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Enables ANY product deployment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3-year total: $409K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AFFA0-1954-E9C2-E880-7E0A1DBBAA7D}"/>
              </a:ext>
            </a:extLst>
          </p:cNvPr>
          <p:cNvSpPr txBox="1"/>
          <p:nvPr/>
        </p:nvSpPr>
        <p:spPr>
          <a:xfrm>
            <a:off x="4651752" y="2420445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PART 2: Activity Hub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81DA9-35CD-44D3-C3F9-5AB2113531DA}"/>
              </a:ext>
            </a:extLst>
          </p:cNvPr>
          <p:cNvSpPr txBox="1"/>
          <p:nvPr/>
        </p:nvSpPr>
        <p:spPr>
          <a:xfrm>
            <a:off x="4651752" y="3060525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🎯 Flagship Integration Platform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$55K one-time development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Unifies 16 Store Support tools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3-year total: $55K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7D8AB80-819A-9C03-638E-0CFEC5302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0231" y="60960"/>
            <a:ext cx="584852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Why Two Separate </a:t>
            </a:r>
            <a:r>
              <a:rPr lang="en-US" dirty="0">
                <a:solidFill>
                  <a:schemeClr val="bg1"/>
                </a:solidFill>
              </a:rPr>
              <a:t>Needs</a:t>
            </a:r>
            <a:r>
              <a:rPr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4551" y="1066800"/>
            <a:ext cx="7680960" cy="36576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Path to Production =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4551" y="147828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✅ Production Azure environment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Security &amp; compliance framework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Development pipeline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Testing &amp; deployment automation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Enables: Any future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4551" y="3078480"/>
            <a:ext cx="7680960" cy="36576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Activity Hub = Proof of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551" y="348996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✅ Central integration platform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16-tool ecosystem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Real-time visibility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Automated workflows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Demonstrates: Immediate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551" y="5090160"/>
            <a:ext cx="7680960" cy="36576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Combined = Maximum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551" y="550164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✅ No duplicate infrastructure costs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Faster time to value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Proven deployment model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Scalable for 15+ future products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Delivers: $25.6M over 3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49040E-3924-B349-4B67-55668305F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1189" y="91904"/>
            <a:ext cx="88270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How We Evaluate New Product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45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rPr dirty="0"/>
              <a:t>📊 Store Support Platform Assessment Tool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Self-service evaluation for business owners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Simple questionnaire (no technical knowledge needed)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Instant complexity &amp; cost estimates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Guides prioritization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95363" y="1356575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rPr dirty="0"/>
              <a:t>What It Provides: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✅ Complexity score (Low/Medium/High)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✅ Technical requirements summary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✅ Cost estimates (Year 1)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✅ Timeline recommendations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✅ PDF export for proposals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163059" cy="817245"/>
          </a:xfrm>
          <a:prstGeom prst="roundRect">
            <a:avLst/>
          </a:prstGeom>
          <a:solidFill>
            <a:srgbClr val="F0F8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1CE"/>
                </a:solidFill>
              </a:defRPr>
            </a:pPr>
            <a:r>
              <a:t>Use Case: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Before requesting Path to Production deployment, business owners use this tool to determine if a product idea should be added to our development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Tool Location: General Setup/Platform-Assessment/assessment_tool.html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5AD073-91FC-D4E5-7DAA-29D23C5C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103257"/>
            <a:ext cx="833728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Why We Need Both Investments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Fragmented Tools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15+ disconnected platforms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Manual data entry across systems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single source of truth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275 hrs/week wasted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No Production Capability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secure deployment process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Each tool requires separate infrastructure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Compliance repeated per product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$184K per product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Limited Visibility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Leadership lacks real-time data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Store communication chaos (30-40% overlap)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systematic governance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Delayed decisions, confused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1148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Manual Processes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Spreadsheet-based tracking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Email coordination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automation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$3.1M/year in inefficiency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6000" b="1">
                <a:solidFill>
                  <a:srgbClr val="FFFFFF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1: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Path to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393A13-0BA9-75A2-9FC9-C903873DF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182880"/>
            <a:ext cx="614270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What is Path to Production?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564" y="1288731"/>
            <a:ext cx="3846450" cy="1838801"/>
          </a:xfrm>
          <a:prstGeom prst="roundRect">
            <a:avLst/>
          </a:prstGeom>
          <a:solidFill>
            <a:srgbClr val="0071CE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u="sng" dirty="0"/>
              <a:t>Production Infrastructure</a:t>
            </a:r>
            <a:endParaRPr lang="en-US" u="sng" dirty="0"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Enterprise Azure environment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Security controls (firewalls, NSGs, monitoring)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Load balancing and traffic management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Backup and disaster recovery capabilities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Monitoring and alerting systems</a:t>
            </a:r>
            <a:endParaRPr dirty="0"/>
          </a:p>
          <a:p>
            <a:r>
              <a:rPr dirty="0"/>
              <a:t>$45K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31" y="3877924"/>
            <a:ext cx="5090283" cy="2077164"/>
          </a:xfrm>
          <a:prstGeom prst="roundRect">
            <a:avLst/>
          </a:prstGeom>
          <a:solidFill>
            <a:srgbClr val="0071CE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u="sng" dirty="0"/>
              <a:t>Compliance &amp; Governance</a:t>
            </a:r>
            <a:endParaRPr lang="en-US" u="sng" dirty="0"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APM (Application Portfolio Management) registration process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Data Classification Assessment (DCA) framework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RISK Assessment and mitigation planning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EPRA (Enhanced Privacy Risk Assessment) capability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Solution Security Plan (SSP) process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Security controls documentation standards</a:t>
            </a:r>
            <a:endParaRPr dirty="0"/>
          </a:p>
          <a:p>
            <a:r>
              <a:rPr dirty="0"/>
              <a:t>$15K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5498" y="1245038"/>
            <a:ext cx="4405962" cy="1906905"/>
          </a:xfrm>
          <a:prstGeom prst="roundRect">
            <a:avLst/>
          </a:prstGeom>
          <a:solidFill>
            <a:srgbClr val="0071CE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u="sng" dirty="0"/>
              <a:t>Development Pipeline</a:t>
            </a:r>
            <a:endParaRPr lang="en-US" u="sng" dirty="0"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CI/CD automation (Azure DevOps pipelines)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Testing frameworks (UAT, penetration, performance)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Quality assurance processes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Deployment automation and rollback capabilities</a:t>
            </a:r>
            <a:endParaRPr dirty="0"/>
          </a:p>
          <a:p>
            <a:endParaRPr lang="en-US" dirty="0"/>
          </a:p>
          <a:p>
            <a:r>
              <a:rPr dirty="0"/>
              <a:t>$25K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3673" y="3877924"/>
            <a:ext cx="3327796" cy="2077164"/>
          </a:xfrm>
          <a:prstGeom prst="roundRect">
            <a:avLst/>
          </a:prstGeom>
          <a:solidFill>
            <a:srgbClr val="0071CE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u="sng" dirty="0"/>
              <a:t>Operational Capability</a:t>
            </a:r>
            <a:endParaRPr lang="en-US" u="sng" dirty="0"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Help desk and support infrastructure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Training and documentation standards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/>
              <a:t>- Change management processes</a:t>
            </a:r>
          </a:p>
          <a:p>
            <a:pPr marL="285750" indent="-285750">
              <a:buFontTx/>
              <a:buChar char="-"/>
              <a:defRPr sz="1400" b="1">
                <a:solidFill>
                  <a:srgbClr val="FFFFFF"/>
                </a:solidFill>
              </a:defRPr>
            </a:pPr>
            <a:r>
              <a:rPr lang="en-US" dirty="0"/>
              <a:t>Ongoing maintenance framework</a:t>
            </a:r>
          </a:p>
          <a:p>
            <a:pPr marL="285750" indent="-285750">
              <a:buFontTx/>
              <a:buChar char="-"/>
              <a:defRPr sz="1400" b="1">
                <a:solidFill>
                  <a:srgbClr val="FFFFFF"/>
                </a:solidFill>
              </a:defRPr>
            </a:pPr>
            <a:endParaRPr lang="en-US" dirty="0"/>
          </a:p>
          <a:p>
            <a:pPr marL="285750" indent="-285750">
              <a:buFontTx/>
              <a:buChar char="-"/>
              <a:defRPr sz="1400" b="1">
                <a:solidFill>
                  <a:srgbClr val="FFFFFF"/>
                </a:solidFill>
              </a:defRPr>
            </a:pPr>
            <a:endParaRPr dirty="0"/>
          </a:p>
          <a:p>
            <a:r>
              <a:rPr dirty="0"/>
              <a:t>$44K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1CE"/>
                </a:solidFill>
              </a:defRPr>
            </a:pPr>
            <a:r>
              <a:rPr dirty="0"/>
              <a:t>Total Stack: $129K one-time → Enables unlimited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9AA2D-0B6B-41D4-35C5-5558F3C2A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632" y="144766"/>
            <a:ext cx="84417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1CE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The Infrastructure Investment That Keeps Giving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23232"/>
                </a:solidFill>
              </a:defRPr>
            </a:pPr>
            <a:r>
              <a:t>Scenario: Deploy 5 Products Over 3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51" y="2094963"/>
            <a:ext cx="4312814" cy="2349579"/>
          </a:xfrm>
          <a:prstGeom prst="roundRect">
            <a:avLst/>
          </a:prstGeom>
          <a:solidFill>
            <a:srgbClr val="FFF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rPr dirty="0"/>
              <a:t>Without Path to Production (Traditional):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lang="en-US" dirty="0"/>
              <a:t>No Path to Production: $920K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1: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2: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3: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4: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5: $184K infrastructure</a:t>
            </a:r>
            <a:endParaRPr lang="en-US" dirty="0"/>
          </a:p>
          <a:p>
            <a:pPr>
              <a:defRPr sz="1400" b="0">
                <a:solidFill>
                  <a:srgbClr val="323232"/>
                </a:solidFill>
              </a:defRPr>
            </a:pPr>
            <a:endParaRPr dirty="0"/>
          </a:p>
          <a:p>
            <a:pPr>
              <a:defRPr sz="1600" b="1">
                <a:solidFill>
                  <a:srgbClr val="323232"/>
                </a:solidFill>
              </a:defRPr>
            </a:pPr>
            <a:r>
              <a:rPr dirty="0"/>
              <a:t>Total: $920K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9325" y="2094963"/>
            <a:ext cx="3835328" cy="2349579"/>
          </a:xfrm>
          <a:prstGeom prst="roundRect">
            <a:avLst/>
          </a:prstGeom>
          <a:solidFill>
            <a:srgbClr val="F0FF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00"/>
                </a:solidFill>
              </a:defRPr>
            </a:pPr>
            <a:r>
              <a:rPr dirty="0"/>
              <a:t>With Path to Production: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Path to Production: $409K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1 (Activity Hub):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2: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3: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4: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rPr dirty="0"/>
              <a:t>Product 5: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endParaRPr dirty="0"/>
          </a:p>
          <a:p>
            <a:pPr>
              <a:defRPr sz="1600" b="1">
                <a:solidFill>
                  <a:srgbClr val="323232"/>
                </a:solidFill>
              </a:defRPr>
            </a:pPr>
            <a:r>
              <a:rPr dirty="0"/>
              <a:t>Total: $684K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2957" y="5303520"/>
            <a:ext cx="4218085" cy="749141"/>
          </a:xfrm>
          <a:prstGeom prst="roundRect">
            <a:avLst/>
          </a:prstGeom>
          <a:solidFill>
            <a:srgbClr val="FFC22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Savings: $236,000 (26% reduction)</a:t>
            </a:r>
          </a:p>
          <a:p>
            <a:r>
              <a:t>Break-Even: After 3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94B03D-ECE1-7563-38BA-A9F14A21D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5356" y="215507"/>
            <a:ext cx="87332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Path to Production: 5 Months to Operational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1-2: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APM registration, Team roster, Azure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Infrastructure live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3-4: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Solution Security Plan, Security controls, Compliance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SSP Approved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5: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CI/CD pipeline, Test environment, Training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Production-ready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6+: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Activity Hub deployment, Additional products follow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Value realization begins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E053B-3646-9EB0-98A0-480211BE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369FF0-C88F-82D4-A695-B7C32728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B0E440-6916-EE55-C2C1-0D6A013D2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FC5951-4646-7FFD-6B0C-D8282BB0C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BC6CE2-5C50-666B-9F20-4073180F5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CFD628-0BFF-9DBF-25EC-C9F32217F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7A9ADC-BCC6-A50F-CF90-36852D183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ECBC61-BBEA-3494-1DF5-F32F870F5A2C}"/>
              </a:ext>
            </a:extLst>
          </p:cNvPr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 2: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Activity Hub</a:t>
            </a:r>
          </a:p>
        </p:txBody>
      </p:sp>
    </p:spTree>
    <p:extLst>
      <p:ext uri="{BB962C8B-B14F-4D97-AF65-F5344CB8AC3E}">
        <p14:creationId xmlns:p14="http://schemas.microsoft.com/office/powerpoint/2010/main" val="277354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AFE2116-53E5-88F0-CB74-DDE8095FEACA}"/>
              </a:ext>
            </a:extLst>
          </p:cNvPr>
          <p:cNvSpPr txBox="1"/>
          <p:nvPr/>
        </p:nvSpPr>
        <p:spPr>
          <a:xfrm rot="10800000" flipV="1">
            <a:off x="472225" y="4004730"/>
            <a:ext cx="2366390" cy="1949172"/>
          </a:xfrm>
          <a:prstGeom prst="flowChartPunchedCard">
            <a:avLst/>
          </a:prstGeom>
          <a:solidFill>
            <a:srgbClr val="FFC220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3BF6B-41C8-7B82-E2A6-F4E46BB1A651}"/>
              </a:ext>
            </a:extLst>
          </p:cNvPr>
          <p:cNvSpPr txBox="1"/>
          <p:nvPr/>
        </p:nvSpPr>
        <p:spPr>
          <a:xfrm rot="10800000" flipH="1" flipV="1">
            <a:off x="6598870" y="4114800"/>
            <a:ext cx="2072903" cy="1949172"/>
          </a:xfrm>
          <a:prstGeom prst="flowChartPunchedCard">
            <a:avLst/>
          </a:prstGeom>
          <a:solidFill>
            <a:srgbClr val="FFC220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69A54-8E52-09E8-74A1-24469D557A6E}"/>
              </a:ext>
            </a:extLst>
          </p:cNvPr>
          <p:cNvSpPr txBox="1"/>
          <p:nvPr/>
        </p:nvSpPr>
        <p:spPr>
          <a:xfrm rot="10800000" flipH="1">
            <a:off x="6305384" y="1556802"/>
            <a:ext cx="2366390" cy="1949172"/>
          </a:xfrm>
          <a:prstGeom prst="flowChartPunchedCard">
            <a:avLst/>
          </a:prstGeom>
          <a:solidFill>
            <a:srgbClr val="FFC220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DF0A93-384E-B6CF-9C3C-4B892363A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05685" y="210604"/>
            <a:ext cx="476290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What is Activity Hub?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4109" y="3421826"/>
            <a:ext cx="2807500" cy="738664"/>
          </a:xfrm>
          <a:prstGeom prst="rect">
            <a:avLst/>
          </a:prstGeom>
          <a:solidFill>
            <a:srgbClr val="0071CE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Activity Hub</a:t>
            </a:r>
          </a:p>
          <a:p>
            <a:r>
              <a:rPr dirty="0">
                <a:solidFill>
                  <a:schemeClr val="bg1">
                    <a:lumMod val="85000"/>
                  </a:schemeClr>
                </a:solidFill>
              </a:rPr>
              <a:t>Central Integration Platform</a:t>
            </a:r>
          </a:p>
        </p:txBody>
      </p:sp>
      <p:sp>
        <p:nvSpPr>
          <p:cNvPr id="4" name="TextBox 3"/>
          <p:cNvSpPr txBox="1"/>
          <p:nvPr/>
        </p:nvSpPr>
        <p:spPr>
          <a:xfrm rot="10800000">
            <a:off x="772732" y="1645921"/>
            <a:ext cx="2072903" cy="1949172"/>
          </a:xfrm>
          <a:prstGeom prst="flowChartPunchedCard">
            <a:avLst/>
          </a:prstGeom>
          <a:solidFill>
            <a:srgbClr val="FFC220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98636" y="1605944"/>
            <a:ext cx="1830501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u="sng" dirty="0"/>
              <a:t>Intake</a:t>
            </a:r>
            <a:r>
              <a:rPr lang="en-US" u="sng" dirty="0"/>
              <a:t>: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AMP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Intake Hub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Meetings &amp; Events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Store Visits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Task &amp; Work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 err="1"/>
              <a:t>AirTable</a:t>
            </a:r>
            <a:r>
              <a:rPr lang="en-US" dirty="0"/>
              <a:t>, Wrike, </a:t>
            </a:r>
            <a:r>
              <a:rPr lang="en-US" dirty="0" err="1"/>
              <a:t>Etc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1CE"/>
                </a:solidFill>
              </a:defRPr>
            </a:pPr>
            <a:r>
              <a:t>One Way of Working for 4,700 stores and 100+ Home Office stakeholders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5C922-24B2-5D35-0F9A-E0D310AB9B69}"/>
              </a:ext>
            </a:extLst>
          </p:cNvPr>
          <p:cNvSpPr txBox="1"/>
          <p:nvPr/>
        </p:nvSpPr>
        <p:spPr>
          <a:xfrm>
            <a:off x="772731" y="1429126"/>
            <a:ext cx="2072903" cy="1949172"/>
          </a:xfrm>
          <a:prstGeom prst="flowChartPunchedCard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u="sng" dirty="0"/>
              <a:t>Reporting</a:t>
            </a:r>
            <a:r>
              <a:rPr lang="en-US" u="sng" dirty="0"/>
              <a:t>: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Operations Review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Comms Activity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Project Activity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Modular Activity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Reality Activity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3B6727-06CD-0A64-9DAB-7FB5588CCBED}"/>
              </a:ext>
            </a:extLst>
          </p:cNvPr>
          <p:cNvSpPr txBox="1"/>
          <p:nvPr/>
        </p:nvSpPr>
        <p:spPr>
          <a:xfrm rot="10800000" flipV="1">
            <a:off x="772732" y="4004730"/>
            <a:ext cx="2072903" cy="1949172"/>
          </a:xfrm>
          <a:prstGeom prst="flowChartPunchedCard">
            <a:avLst/>
          </a:prstGeom>
          <a:solidFill>
            <a:srgbClr val="FFC220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6916" y="4347091"/>
            <a:ext cx="217700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u="sng" dirty="0"/>
              <a:t>Store Tool</a:t>
            </a:r>
            <a:r>
              <a:rPr lang="en-US" u="sng" dirty="0"/>
              <a:t>s: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Tour IT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Store Meeting Planners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Tour Guides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384B14-7288-7CA1-2B85-57ABEF8ACD42}"/>
              </a:ext>
            </a:extLst>
          </p:cNvPr>
          <p:cNvSpPr txBox="1"/>
          <p:nvPr/>
        </p:nvSpPr>
        <p:spPr>
          <a:xfrm rot="10800000" flipH="1" flipV="1">
            <a:off x="6298364" y="4114800"/>
            <a:ext cx="2366390" cy="1949172"/>
          </a:xfrm>
          <a:prstGeom prst="flowChartPunchedCard">
            <a:avLst/>
          </a:prstGeom>
          <a:solidFill>
            <a:srgbClr val="FFC220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BB92D-E162-3B2C-3EBE-5A96647837BC}"/>
              </a:ext>
            </a:extLst>
          </p:cNvPr>
          <p:cNvSpPr txBox="1"/>
          <p:nvPr/>
        </p:nvSpPr>
        <p:spPr>
          <a:xfrm rot="10800000">
            <a:off x="472225" y="1645921"/>
            <a:ext cx="2366390" cy="1949172"/>
          </a:xfrm>
          <a:prstGeom prst="flowChartPunchedCard">
            <a:avLst/>
          </a:prstGeom>
          <a:solidFill>
            <a:srgbClr val="FFC220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4FCAD-F6BB-D61A-232B-EE19BB064B02}"/>
              </a:ext>
            </a:extLst>
          </p:cNvPr>
          <p:cNvSpPr txBox="1"/>
          <p:nvPr/>
        </p:nvSpPr>
        <p:spPr>
          <a:xfrm>
            <a:off x="566916" y="1420111"/>
            <a:ext cx="2072903" cy="1949172"/>
          </a:xfrm>
          <a:prstGeom prst="flowChartPunchedCard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u="sng" dirty="0"/>
              <a:t>Reporting</a:t>
            </a:r>
            <a:r>
              <a:rPr lang="en-US" u="sng" dirty="0"/>
              <a:t>: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Operations Review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Comms Activity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Project Activity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Modular Activity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/>
              <a:t>Reality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7433" y="4270029"/>
            <a:ext cx="2345899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u="sng" dirty="0"/>
              <a:t>Specialized</a:t>
            </a:r>
            <a:r>
              <a:rPr lang="en-US" u="sng" dirty="0"/>
              <a:t>: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sz="1600" dirty="0"/>
              <a:t>Modular Balancing Tool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sz="1600" dirty="0"/>
              <a:t>Tour Guides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dirty="0" err="1"/>
              <a:t>Distrobution</a:t>
            </a:r>
            <a:r>
              <a:rPr lang="en-US" dirty="0"/>
              <a:t> List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sz="1600" dirty="0"/>
              <a:t>Projects in Stores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rPr lang="en-US" sz="1600" dirty="0"/>
              <a:t>Activity Hub (Integration)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10A32B-7808-6F26-F468-B0A47C3D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90293" y="75591"/>
            <a:ext cx="434946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C800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BEFORE (Current State)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15+ disconnected tools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275 hours/week manual work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30-40% message overlap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No real-time visibility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Spreadsheet tracking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Email coordination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Store 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AFTER (With Activity Hub)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1 integrated platform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58 hours/week automated work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5% message overlap (smart detection)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Real-time executive dashboard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Automated tracking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Workflow automation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Clear store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102" y="6217920"/>
            <a:ext cx="5903796" cy="442674"/>
          </a:xfrm>
          <a:prstGeom prst="roundRect">
            <a:avLst/>
          </a:prstGeom>
          <a:solidFill>
            <a:srgbClr val="FFC22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Time Saved: 217 hours/week | Efficiency Gained: 79%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5F40D9-020A-403A-EB02-8DFFA48C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82606" y="208300"/>
            <a:ext cx="70469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1CE"/>
                </a:solidFill>
              </a:defRPr>
            </a:pPr>
            <a:r>
              <a:rPr sz="2800" dirty="0">
                <a:solidFill>
                  <a:schemeClr val="bg1"/>
                </a:solidFill>
              </a:rPr>
              <a:t>$3.1M Annual Benefits Across Four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Time Savings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$564,200/year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Manual reporting: 100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Communication: 30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Issue tracking: 45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Tour data: 25 hrs/week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Communication Efficiency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$481,000/year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30% reduction in message overlap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25% increase in targeted messaging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Reduced store confusion/rework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Governance &amp; Decisions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$470,000/year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Real-time visibility → faster decisions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Conflict detection → prevents duplicates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Data-driven resource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11480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Store Productivity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$1,631,000/year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4,700 stores × 2.5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Streamlined issue reporting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Efficient tour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1CE"/>
                </a:solidFill>
              </a:defRPr>
            </a:pPr>
            <a:r>
              <a:t>Total Annual Benefit: $3,146,200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110EC9-EC69-4EEB-2862-DF9D2E15C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3515" y="258436"/>
            <a:ext cx="77221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1CE"/>
                </a:solidFill>
              </a:defRPr>
            </a:pPr>
            <a:r>
              <a:rPr sz="2800" dirty="0">
                <a:solidFill>
                  <a:schemeClr val="bg1"/>
                </a:solidFill>
              </a:rPr>
              <a:t>$55K Development Leverages $129K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6393" y="1645920"/>
            <a:ext cx="4358211" cy="2877383"/>
          </a:xfrm>
          <a:prstGeom prst="roundRect">
            <a:avLst/>
          </a:prstGeom>
          <a:solidFill>
            <a:srgbClr val="F0FF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00"/>
                </a:solidFill>
              </a:defRPr>
            </a:pPr>
            <a:r>
              <a:rPr dirty="0"/>
              <a:t>Activity Hub Development Only: $55,000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Integration Development: $35,000 (64%)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  • Core API development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  • 16 platform connectors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  • Authentication &amp; data model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Data Migration: $20,000 (36%)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  • Legacy data extraction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  • Cleanup &amp; standardization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  • Schema transformation</a:t>
            </a:r>
            <a:endParaRPr lang="en-US" dirty="0"/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896548" y="1706022"/>
            <a:ext cx="4197176" cy="2673072"/>
          </a:xfrm>
          <a:prstGeom prst="roundRect">
            <a:avLst/>
          </a:prstGeom>
          <a:solidFill>
            <a:srgbClr val="F0F0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1CE"/>
                </a:solidFill>
              </a:defRPr>
            </a:pPr>
            <a:r>
              <a:rPr dirty="0"/>
              <a:t>Leverages Path to Production (Already Paid):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Azure infrastructure: $45K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Security &amp; compliance: $15K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Testing &amp; QA: $25K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Training &amp; docs: $20K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Contingency: $24K ✓</a:t>
            </a:r>
            <a:endParaRPr lang="en-US" dirty="0"/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00285" y="4754880"/>
            <a:ext cx="5743430" cy="749141"/>
          </a:xfrm>
          <a:prstGeom prst="roundRect">
            <a:avLst/>
          </a:prstGeom>
          <a:solidFill>
            <a:srgbClr val="FFC22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Total Activity Hub Cost: $55K + $129K = $184K</a:t>
            </a:r>
          </a:p>
          <a:p>
            <a:r>
              <a:t>Recurring Costs: $0 (covered by Path to Production)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CAAD7D-5112-9B87-5B56-415DFCDF8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1088" y="113989"/>
            <a:ext cx="877657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Activity Hub ROI: 21-Day Payback Period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Total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$184,000 (one-time)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Annual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$3,146,200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Year 1 Net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$2,962,200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Year 1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1,610%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3-Year Total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$9,919,200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3-Year Net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$9,735,200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3-Year ROI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5,292%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Break-Even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1, Week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Payback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21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5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NPV (8% discount)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$8,960,000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59164" y="5943600"/>
            <a:ext cx="5025671" cy="442674"/>
          </a:xfrm>
          <a:prstGeom prst="roundRect">
            <a:avLst/>
          </a:prstGeom>
          <a:solidFill>
            <a:srgbClr val="FFC22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Every dollar invested returns $53 over 3 years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538EA5-D2CA-8DEB-795F-88F7EE442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13989"/>
            <a:ext cx="926580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Activity Hub: 8 Months to Full Deployment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Months 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Requirements, data model, API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Design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Core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Months 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API dev, authentication, 6 core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Core platform functional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10 remaining integrations, data migration,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All 16 platforms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Training, deployment, phased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Activity Hub live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Optimize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Monitor, gather feedback, continuous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Full suite operational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33FA7-0764-96A8-4013-1BE0CA57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19A4446-35DA-BCF8-28B8-5F7CA9E93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4DFE85-44B8-8E03-B09C-28844106D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BC4BC-61A5-9648-4DCF-4EB7BD2FE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342A73-7596-1CA6-6593-63A2AFF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6CB47E-3811-B22D-6624-55E79B0D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9321854-966B-4CEF-12FB-0B17486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4D7B3-EA16-CB8C-790D-17BAAA13CAC8}"/>
              </a:ext>
            </a:extLst>
          </p:cNvPr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Combined Investment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What’s the ROI?</a:t>
            </a:r>
          </a:p>
        </p:txBody>
      </p:sp>
    </p:spTree>
    <p:extLst>
      <p:ext uri="{BB962C8B-B14F-4D97-AF65-F5344CB8AC3E}">
        <p14:creationId xmlns:p14="http://schemas.microsoft.com/office/powerpoint/2010/main" val="1989931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5EE837-EA34-E4B5-8C49-22040E493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3263" y="113989"/>
            <a:ext cx="73974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Total 3-Year Investment: $464,000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One-Time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1 Recurring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2 Recurring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3 Recurring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3-Year Total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Path to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$129,000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$409,000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Activity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$55,000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$184,000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$90,000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$92,500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$97,500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$464,000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241BFA-4309-73DB-F9CF-C42D3D35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3617" y="78132"/>
            <a:ext cx="701358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$25.6M Total Value Over 3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80000"/>
                </a:solidFill>
              </a:defRPr>
            </a:pPr>
            <a:r>
              <a:t>Investment Base: -$464,000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9600"/>
                </a:solidFill>
              </a:defRPr>
            </a:pPr>
            <a:r>
              <a:t>Activity Hub Direct Benefits: +$9,919,200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9600"/>
                </a:solidFill>
              </a:defRPr>
            </a:pPr>
            <a:r>
              <a:t>Future Products Enabled: +$15,700,000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1CE"/>
                </a:solidFill>
              </a:defRPr>
            </a:pPr>
            <a:r>
              <a:t>Total Value: $25,619,200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1CE"/>
                </a:solidFill>
              </a:defRPr>
            </a:pPr>
            <a:r>
              <a:t>Net Benefit: $25,155,200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17920"/>
            <a:ext cx="6400800" cy="64008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23232"/>
                </a:solidFill>
              </a:defRPr>
            </a:pPr>
            <a:r>
              <a:t>Combined ROI: 5,420%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D07B3-A909-5CFA-8E5C-DC0028C97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5431" y="113989"/>
            <a:ext cx="855984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Risks Are Manageable with Clear Mitigation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User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Phased rollout, training, exec sponsorship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Integration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API-first design, thorough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Security/Compliance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Follow Production_Path, security audits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Validation rules, migration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Timeline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15% contingency buffer, agile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94BB8A-A181-3145-FE74-17BEDC82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31701" y="91904"/>
            <a:ext cx="60810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How We'll Measure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Path to Production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APM Certified status achieved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SSP Approved status achieved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CI/CD pipeline operational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&lt;2 week deployment time for new products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Zero security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Activity Hub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16 platforms integrated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100+ users onboarded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275 → 58 hours/week (79% reduction)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30% → 5% message overlap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$3.1M+ annual benefits achieved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95%+ user satisfaction score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E0810E-16BD-82D9-D349-DC51D0512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0118" y="198787"/>
            <a:ext cx="83637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What We Need from Leadership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1120" y="1431272"/>
            <a:ext cx="6031519" cy="1668542"/>
          </a:xfrm>
          <a:prstGeom prst="roundRect">
            <a:avLst/>
          </a:prstGeom>
          <a:solidFill>
            <a:srgbClr val="F0F5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1CE"/>
                </a:solidFill>
              </a:defRPr>
            </a:pPr>
            <a:r>
              <a:t>☐ Approval #1: Path to Production Infrastructure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Investment: $129,000 one-time + $90,000/year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Deliverable: Enterprise development and deployment capability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Timeline: 5 months to operational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Value: Enables ALL future Store Support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1120" y="3260072"/>
            <a:ext cx="5853877" cy="1668542"/>
          </a:xfrm>
          <a:prstGeom prst="roundRect">
            <a:avLst/>
          </a:prstGeom>
          <a:solidFill>
            <a:srgbClr val="F0FF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600"/>
                </a:solidFill>
              </a:defRPr>
            </a:pPr>
            <a:r>
              <a:rPr dirty="0"/>
              <a:t>☐ Approval #2: Activity Hub Platform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  • Investment: $55,000 development (one-time)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  • Deliverable: Integrated platform unifying 16 tools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  • Timeline: 8 months to production launch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dirty="0"/>
              <a:t>  • Value: $9.9M over 3 years, 5,292%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6728195" cy="715089"/>
          </a:xfrm>
          <a:prstGeom prst="roundRect">
            <a:avLst/>
          </a:prstGeom>
          <a:solidFill>
            <a:srgbClr val="FFC22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</a:defRPr>
            </a:pPr>
            <a:r>
              <a:t>☐ Combined Package: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t>Total Investment: $464,000 over 3 years | Total Value: $25.6M | ROI: 5,420%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9CA2DA-074B-1907-A251-965BFD6D7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35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76648" y="113989"/>
            <a:ext cx="707892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Opportunity Cost of Waiting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Scenario 1: Approve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Launch: August 2026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Year 1 benefit: $3.1M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3-year benefit: $9.9M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Future products: 15+ enabled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48640"/>
          </a:xfrm>
          <a:prstGeom prst="rect">
            <a:avLst/>
          </a:prstGeom>
          <a:solidFill>
            <a:srgbClr val="C800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Scenario 2: Delay 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Launch: February 2027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Year 1 benefit: $1.6M (partial year)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Lost value: $1.5M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Future products: Delayed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67" y="6217920"/>
            <a:ext cx="6419066" cy="442674"/>
          </a:xfrm>
          <a:prstGeom prst="roundRect">
            <a:avLst/>
          </a:prstGeom>
          <a:solidFill>
            <a:srgbClr val="C8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rPr dirty="0">
                <a:solidFill>
                  <a:schemeClr val="bg1"/>
                </a:solidFill>
              </a:rPr>
              <a:t>Every month of delay costs $262,000 in unrealized benefits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D67A9-3FF2-FE3E-BE36-592F446F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EE1371-9C43-1DA1-CAFE-95C1434DB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0ACFF4-C7EB-9643-50D6-AE6FF4B74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82657F-8A47-BD61-3E43-A77AB60C9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3D587F-3351-86AA-0BDA-AEF523991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D773E5-A4FF-0DEF-BC24-A72823089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18530-C200-78C5-0A4E-73F1E53E2A78}"/>
              </a:ext>
            </a:extLst>
          </p:cNvPr>
          <p:cNvSpPr txBox="1"/>
          <p:nvPr/>
        </p:nvSpPr>
        <p:spPr>
          <a:xfrm>
            <a:off x="1073614" y="333629"/>
            <a:ext cx="8118756" cy="717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5400" b="1">
                <a:solidFill>
                  <a:srgbClr val="FFFFFF"/>
                </a:solidFill>
              </a:defRPr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Ready to Transform Store Support?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02655D-A41A-5DC5-43EA-D907B7A93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04B2F7-2A90-9AF5-006E-FD411DA21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 descr="A yellow circle with five pointed points&#10;&#10;AI-generated content may be incorrect.">
            <a:extLst>
              <a:ext uri="{FF2B5EF4-FFF2-40B4-BE49-F238E27FC236}">
                <a16:creationId xmlns:a16="http://schemas.microsoft.com/office/drawing/2014/main" id="{F4C5490B-C17F-B171-D878-D534BC4BA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524" y="-153520"/>
            <a:ext cx="1789524" cy="17895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125ACC-4217-A5C1-0CC0-34633895C487}"/>
              </a:ext>
            </a:extLst>
          </p:cNvPr>
          <p:cNvSpPr txBox="1"/>
          <p:nvPr/>
        </p:nvSpPr>
        <p:spPr>
          <a:xfrm>
            <a:off x="1139780" y="1600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C220"/>
                </a:solidFill>
              </a:defRPr>
            </a:pPr>
            <a:r>
              <a:t>Today's Decision:</a:t>
            </a:r>
          </a:p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☑️ Approve Path to Production Infrastructure</a:t>
            </a:r>
          </a:p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☑️ Approve Activity Hub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05FEC-B592-D9C6-D239-0707A257DF03}"/>
              </a:ext>
            </a:extLst>
          </p:cNvPr>
          <p:cNvSpPr txBox="1"/>
          <p:nvPr/>
        </p:nvSpPr>
        <p:spPr>
          <a:xfrm>
            <a:off x="1139780" y="4025887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220"/>
                </a:solidFill>
              </a:defRPr>
            </a:pPr>
            <a:r>
              <a:t>$464,000 investment | $25.6M value | 5,420% ROI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Target Production Launch: August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67BEF-1098-1B0B-5899-F51BF7D8800B}"/>
              </a:ext>
            </a:extLst>
          </p:cNvPr>
          <p:cNvSpPr txBox="1"/>
          <p:nvPr/>
        </p:nvSpPr>
        <p:spPr>
          <a:xfrm>
            <a:off x="1742941" y="5720054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Let's Build the Future of Store Support</a:t>
            </a:r>
          </a:p>
        </p:txBody>
      </p:sp>
    </p:spTree>
    <p:extLst>
      <p:ext uri="{BB962C8B-B14F-4D97-AF65-F5344CB8AC3E}">
        <p14:creationId xmlns:p14="http://schemas.microsoft.com/office/powerpoint/2010/main" val="187835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31799</TotalTime>
  <Words>1805</Words>
  <Application>Microsoft Office PowerPoint</Application>
  <PresentationFormat>On-screen Show (4:3)</PresentationFormat>
  <Paragraphs>429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Kendall Rush</cp:lastModifiedBy>
  <cp:revision>3</cp:revision>
  <dcterms:created xsi:type="dcterms:W3CDTF">2013-01-27T09:14:16Z</dcterms:created>
  <dcterms:modified xsi:type="dcterms:W3CDTF">2026-01-07T22:28:46Z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2025-12-16T20:29:53Z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5143095a-07f8-4799-a3b5-e144d6500e5d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