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68" r:id="rId2"/>
    <p:sldId id="269" r:id="rId3"/>
    <p:sldId id="267" r:id="rId4"/>
    <p:sldId id="270" r:id="rId5"/>
    <p:sldId id="272" r:id="rId6"/>
    <p:sldId id="271" r:id="rId7"/>
    <p:sldId id="274" r:id="rId8"/>
    <p:sldId id="275" r:id="rId9"/>
    <p:sldId id="265" r:id="rId10"/>
    <p:sldId id="273" r:id="rId11"/>
    <p:sldId id="261" r:id="rId12"/>
    <p:sldId id="262" r:id="rId13"/>
    <p:sldId id="264" r:id="rId14"/>
    <p:sldId id="266"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61" d="100"/>
          <a:sy n="161" d="100"/>
        </p:scale>
        <p:origin x="57" y="3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EAC56-57EF-4751-A482-A4CCDE2BFC32}" type="datetimeFigureOut">
              <a:rPr lang="en-US" smtClean="0"/>
              <a:t>12/16/2025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EC2325-D96A-485A-B4B9-84F0A8224107}" type="slidenum">
              <a:rPr lang="en-US" smtClean="0"/>
              <a:t>‹#›</a:t>
            </a:fld>
            <a:endParaRPr lang="en-US"/>
          </a:p>
        </p:txBody>
      </p:sp>
    </p:spTree>
    <p:extLst>
      <p:ext uri="{BB962C8B-B14F-4D97-AF65-F5344CB8AC3E}">
        <p14:creationId xmlns:p14="http://schemas.microsoft.com/office/powerpoint/2010/main" val="967855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0F389-360B-E4CC-1EE0-BF1DB8BCF4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5C93B-2D56-AB94-471A-77C03D7556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EBF3C6-CFD9-EE37-8370-85C4BF7FDF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4E1B97-B60B-E543-7AB4-FE8B61FC714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7EC2325-D96A-485A-B4B9-84F0A822410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522005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3367D-8F6D-65AD-9A87-9E4C498A7D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B6B7CC-F183-82C7-568A-02C7D3FF0A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5DDD98-EB64-01E2-98A2-76E3B2EA5E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FD8711-DE26-C0A0-4CC3-562F72E6059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7EC2325-D96A-485A-B4B9-84F0A822410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6035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1A3B1-7175-1A82-E5C1-09AF0EE0D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50DC64-99D7-07B4-FE45-16F8A94132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888FD8-7AE0-5A4A-2989-AA28D4DC09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845131-8B3F-0695-8E0F-20EACF75787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7EC2325-D96A-485A-B4B9-84F0A822410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45246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EE215-5E26-2955-5D2F-2F410F150E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DE70F8-CD98-3042-3FF9-12B348DA4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EB2069-7410-31CF-0F7C-740A143085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38D7B9-72EE-3292-5E84-2C23607EEC9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7EC2325-D96A-485A-B4B9-84F0A822410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774968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93F6E-0FC0-DC08-E942-0CFF25867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57E9E-EA36-2F7A-8C1F-14A4462098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5013B5-3973-320C-89D0-628D2CED1A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845640-CA76-1D73-5E02-F1B8B11DC16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7EC2325-D96A-485A-B4B9-84F0A822410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6252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D60C3-9E83-2D36-16D2-F8D1D7A493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216FFD-B240-D8CC-83BA-C84B70FBB8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5E9075-4BBE-7A7F-CA5B-9062E6FBF8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EA1EB1-47E1-ECA7-3134-027C7344A75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7EC2325-D96A-485A-B4B9-84F0A822410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550498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0B23A-355F-71B6-DD27-E710F01F60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4407D5-B886-D7B9-F029-FC6B59E023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5A4515-E525-D9C1-E1D1-F789C0C448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066244-8341-3434-A1D5-1987C9097E6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7EC2325-D96A-485A-B4B9-84F0A822410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238242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71CA7-6635-1C21-704E-DD3068A645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FC768B-0EEE-60F1-3CE5-19D20E1E7E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21DABB-C8F7-E80B-BD0E-FBBED00CF5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70239A-AADF-4740-CDC3-33DE2E0B0C4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7EC2325-D96A-485A-B4B9-84F0A822410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497013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EC2325-D96A-485A-B4B9-84F0A8224107}" type="slidenum">
              <a:rPr lang="en-US" smtClean="0"/>
              <a:t>9</a:t>
            </a:fld>
            <a:endParaRPr lang="en-US"/>
          </a:p>
        </p:txBody>
      </p:sp>
    </p:spTree>
    <p:extLst>
      <p:ext uri="{BB962C8B-B14F-4D97-AF65-F5344CB8AC3E}">
        <p14:creationId xmlns:p14="http://schemas.microsoft.com/office/powerpoint/2010/main" val="3419051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BCE80-0D15-31B5-3357-D82589D98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5CCD77-67D8-D5E5-BB4B-A422E461C9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92E1F5-E0C8-E9A3-360D-13D8BD5FF6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032618-5B79-83BC-DA8C-72EBDF77310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7EC2325-D96A-485A-B4B9-84F0A822410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622286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12BD-CC08-3916-A519-B825CBBA9D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8F234A-FFFF-C189-3C22-A34BE3B943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3F2DB8-2EE6-F7C1-C86B-6A3F4BD53C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E69F0C-16BD-F69F-A633-05BF2AAFF20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7EC2325-D96A-485A-B4B9-84F0A822410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896028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9CF72B-5DE0-6D89-DD40-873D962D9B2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2A8DD81-35BC-9DE7-DD97-CCDD4620E2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C68DBF43-57FC-D62D-7A2A-82AC3B0A89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9144000"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439F1649-5F1A-B0D5-8AA0-ACBA3BB67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41640" y="-1720"/>
            <a:ext cx="881253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4C4DE192-3AD3-712C-CC78-3B279921CF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4540" y="-1291"/>
            <a:ext cx="2706134"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a:extLst>
              <a:ext uri="{FF2B5EF4-FFF2-40B4-BE49-F238E27FC236}">
                <a16:creationId xmlns:a16="http://schemas.microsoft.com/office/drawing/2014/main" id="{EBF27279-3268-98CC-59AB-688C3D6E71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3923854" y="1402819"/>
            <a:ext cx="4967533" cy="3741293"/>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 name="TextBox 1">
            <a:extLst>
              <a:ext uri="{FF2B5EF4-FFF2-40B4-BE49-F238E27FC236}">
                <a16:creationId xmlns:a16="http://schemas.microsoft.com/office/drawing/2014/main" id="{DE9EA12D-3E97-7993-6361-31A31CD922F5}"/>
              </a:ext>
            </a:extLst>
          </p:cNvPr>
          <p:cNvSpPr txBox="1"/>
          <p:nvPr/>
        </p:nvSpPr>
        <p:spPr>
          <a:xfrm>
            <a:off x="753679" y="496447"/>
            <a:ext cx="4947184" cy="653092"/>
          </a:xfrm>
          <a:prstGeom prst="rect">
            <a:avLst/>
          </a:prstGeom>
        </p:spPr>
        <p:txBody>
          <a:bodyPr vert="horz" lIns="91440" tIns="45720" rIns="91440" bIns="45720" rtlCol="0" anchor="b">
            <a:normAutofit lnSpcReduction="10000"/>
          </a:bodyPr>
          <a:lstStyle/>
          <a:p>
            <a:pPr marL="0" marR="0" lvl="0" indent="0" algn="r" defTabSz="914400" rtl="0" eaLnBrk="1" fontAlgn="auto" latinLnBrk="0" hangingPunct="1">
              <a:lnSpc>
                <a:spcPct val="90000"/>
              </a:lnSpc>
              <a:spcBef>
                <a:spcPct val="0"/>
              </a:spcBef>
              <a:spcAft>
                <a:spcPts val="600"/>
              </a:spcAft>
              <a:buClrTx/>
              <a:buSzTx/>
              <a:buFontTx/>
              <a:buNone/>
              <a:tabLst/>
              <a:defRPr sz="5400" b="1">
                <a:solidFill>
                  <a:srgbClr val="FFFFFF"/>
                </a:solidFill>
              </a:defRPr>
            </a:pPr>
            <a:r>
              <a:rPr kumimoji="0" lang="en-US" sz="4200" b="1" i="0" u="none" strike="noStrike" kern="1200" cap="none" spc="0" normalizeH="0" baseline="0" noProof="0" dirty="0">
                <a:ln>
                  <a:noFill/>
                </a:ln>
                <a:solidFill>
                  <a:srgbClr val="FFFFFF"/>
                </a:solidFill>
                <a:effectLst/>
                <a:uLnTx/>
                <a:uFillTx/>
                <a:latin typeface="Calibri"/>
                <a:ea typeface="+mn-ea"/>
                <a:cs typeface="+mn-cs"/>
              </a:rPr>
              <a:t>Store Support - AGE </a:t>
            </a:r>
          </a:p>
        </p:txBody>
      </p:sp>
      <p:sp>
        <p:nvSpPr>
          <p:cNvPr id="19" name="Rectangle 18">
            <a:extLst>
              <a:ext uri="{FF2B5EF4-FFF2-40B4-BE49-F238E27FC236}">
                <a16:creationId xmlns:a16="http://schemas.microsoft.com/office/drawing/2014/main" id="{6CEC4A9D-CA1F-7512-EEE1-51F0EC8928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735" y="4480038"/>
            <a:ext cx="9134528"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009F0116-57A8-8E42-A781-52D400C087A1}"/>
              </a:ext>
            </a:extLst>
          </p:cNvPr>
          <p:cNvSpPr txBox="1"/>
          <p:nvPr/>
        </p:nvSpPr>
        <p:spPr>
          <a:xfrm>
            <a:off x="272310" y="2257258"/>
            <a:ext cx="8435953" cy="2081843"/>
          </a:xfrm>
          <a:prstGeom prst="rect">
            <a:avLst/>
          </a:prstGeom>
        </p:spPr>
        <p:txBody>
          <a:bodyPr vert="horz" lIns="91440" tIns="45720" rIns="91440" bIns="45720" rtlCol="0">
            <a:normAutofit/>
          </a:bodyPr>
          <a:lstStyle/>
          <a:p>
            <a:pPr marL="457200" marR="0" lvl="0" indent="-457200" algn="r" defTabSz="914400" rtl="0" eaLnBrk="1" fontAlgn="auto" latinLnBrk="0" hangingPunct="1">
              <a:lnSpc>
                <a:spcPct val="90000"/>
              </a:lnSpc>
              <a:spcBef>
                <a:spcPts val="1000"/>
              </a:spcBef>
              <a:spcAft>
                <a:spcPts val="0"/>
              </a:spcAft>
              <a:buClrTx/>
              <a:buSzTx/>
              <a:buFontTx/>
              <a:buAutoNum type="arabicPeriod"/>
              <a:tabLst/>
              <a:defRPr sz="3200">
                <a:solidFill>
                  <a:srgbClr val="FFFFFF"/>
                </a:solidFill>
              </a:defRPr>
            </a:pPr>
            <a:r>
              <a:rPr kumimoji="0" lang="en-US" sz="2400" b="0" i="0" u="none" strike="noStrike" kern="1200" cap="none" spc="0" normalizeH="0" baseline="0" noProof="0" dirty="0">
                <a:ln>
                  <a:noFill/>
                </a:ln>
                <a:solidFill>
                  <a:srgbClr val="FFFFFF"/>
                </a:solidFill>
                <a:effectLst/>
                <a:uLnTx/>
                <a:uFillTx/>
                <a:latin typeface="Calibri"/>
                <a:ea typeface="+mn-ea"/>
                <a:cs typeface="+mn-cs"/>
              </a:rPr>
              <a:t>Project &amp; Work Management = Activity Hub Platform</a:t>
            </a:r>
          </a:p>
          <a:p>
            <a:pPr marL="457200" marR="0" lvl="0" indent="-457200" algn="r" defTabSz="914400" rtl="0" eaLnBrk="1" fontAlgn="auto" latinLnBrk="0" hangingPunct="1">
              <a:lnSpc>
                <a:spcPct val="90000"/>
              </a:lnSpc>
              <a:spcBef>
                <a:spcPts val="1000"/>
              </a:spcBef>
              <a:spcAft>
                <a:spcPts val="0"/>
              </a:spcAft>
              <a:buClrTx/>
              <a:buSzTx/>
              <a:buFontTx/>
              <a:buAutoNum type="arabicPeriod"/>
              <a:tabLst/>
              <a:defRPr sz="3200">
                <a:solidFill>
                  <a:srgbClr val="FFFFFF"/>
                </a:solidFill>
              </a:defRPr>
            </a:pPr>
            <a:r>
              <a:rPr lang="en-US" sz="2400" dirty="0">
                <a:solidFill>
                  <a:srgbClr val="FFFFFF"/>
                </a:solidFill>
                <a:latin typeface="Calibri"/>
              </a:rPr>
              <a:t>Reporting Consistency</a:t>
            </a:r>
          </a:p>
          <a:p>
            <a:pPr marL="457200" marR="0" lvl="0" indent="-457200" algn="r" defTabSz="914400" rtl="0" eaLnBrk="1" fontAlgn="auto" latinLnBrk="0" hangingPunct="1">
              <a:lnSpc>
                <a:spcPct val="90000"/>
              </a:lnSpc>
              <a:spcBef>
                <a:spcPts val="1000"/>
              </a:spcBef>
              <a:spcAft>
                <a:spcPts val="0"/>
              </a:spcAft>
              <a:buClrTx/>
              <a:buSzTx/>
              <a:buFontTx/>
              <a:buAutoNum type="arabicPeriod"/>
              <a:tabLst/>
              <a:defRPr sz="3200">
                <a:solidFill>
                  <a:srgbClr val="FFFFFF"/>
                </a:solidFill>
              </a:defRPr>
            </a:pPr>
            <a:r>
              <a:rPr lang="en-US" sz="2400" dirty="0">
                <a:solidFill>
                  <a:srgbClr val="FFFFFF"/>
                </a:solidFill>
                <a:latin typeface="Calibri"/>
              </a:rPr>
              <a:t>Targeting Alignment (Job-Codes to Dept)</a:t>
            </a:r>
          </a:p>
          <a:p>
            <a:pPr marL="457200" marR="0" lvl="0" indent="-457200" algn="r" defTabSz="914400" rtl="0" eaLnBrk="1" fontAlgn="auto" latinLnBrk="0" hangingPunct="1">
              <a:lnSpc>
                <a:spcPct val="90000"/>
              </a:lnSpc>
              <a:spcBef>
                <a:spcPts val="1000"/>
              </a:spcBef>
              <a:spcAft>
                <a:spcPts val="0"/>
              </a:spcAft>
              <a:buClrTx/>
              <a:buSzTx/>
              <a:buFontTx/>
              <a:buAutoNum type="arabicPeriod"/>
              <a:tabLst/>
              <a:defRPr sz="3200">
                <a:solidFill>
                  <a:srgbClr val="FFFFFF"/>
                </a:solidFill>
              </a:defRPr>
            </a:pPr>
            <a:r>
              <a:rPr kumimoji="0" lang="en-US" sz="2400" b="0" i="0" u="none" strike="noStrike" kern="1200" cap="none" spc="0" normalizeH="0" baseline="0" noProof="0" dirty="0">
                <a:ln>
                  <a:noFill/>
                </a:ln>
                <a:solidFill>
                  <a:srgbClr val="FFFFFF"/>
                </a:solidFill>
                <a:effectLst/>
                <a:uLnTx/>
                <a:uFillTx/>
                <a:latin typeface="Calibri"/>
                <a:ea typeface="+mn-ea"/>
                <a:cs typeface="+mn-cs"/>
              </a:rPr>
              <a:t>AMP First – Protecting Associate Activity Levels</a:t>
            </a:r>
          </a:p>
        </p:txBody>
      </p:sp>
      <p:sp>
        <p:nvSpPr>
          <p:cNvPr id="21" name="Rectangle 20">
            <a:extLst>
              <a:ext uri="{FF2B5EF4-FFF2-40B4-BE49-F238E27FC236}">
                <a16:creationId xmlns:a16="http://schemas.microsoft.com/office/drawing/2014/main" id="{D2076DB2-76D4-3C41-B41E-B3C3F9C96C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368117" y="2081692"/>
            <a:ext cx="6857572" cy="2694194"/>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8" name="Picture 7" descr="A yellow circle with five pointed points&#10;&#10;AI-generated content may be incorrect.">
            <a:extLst>
              <a:ext uri="{FF2B5EF4-FFF2-40B4-BE49-F238E27FC236}">
                <a16:creationId xmlns:a16="http://schemas.microsoft.com/office/drawing/2014/main" id="{10FE6086-82A5-1C11-EB88-21EEA4021543}"/>
              </a:ext>
            </a:extLst>
          </p:cNvPr>
          <p:cNvPicPr>
            <a:picLocks noChangeAspect="1"/>
          </p:cNvPicPr>
          <p:nvPr/>
        </p:nvPicPr>
        <p:blipFill>
          <a:blip r:embed="rId3"/>
          <a:stretch>
            <a:fillRect/>
          </a:stretch>
        </p:blipFill>
        <p:spPr>
          <a:xfrm>
            <a:off x="5559778" y="-159643"/>
            <a:ext cx="1789524" cy="1789524"/>
          </a:xfrm>
          <a:prstGeom prst="rect">
            <a:avLst/>
          </a:prstGeom>
        </p:spPr>
      </p:pic>
      <p:sp>
        <p:nvSpPr>
          <p:cNvPr id="10" name="TextBox 9">
            <a:extLst>
              <a:ext uri="{FF2B5EF4-FFF2-40B4-BE49-F238E27FC236}">
                <a16:creationId xmlns:a16="http://schemas.microsoft.com/office/drawing/2014/main" id="{D9FA602B-0DCE-FD5D-F50E-2E202F804197}"/>
              </a:ext>
            </a:extLst>
          </p:cNvPr>
          <p:cNvSpPr txBox="1"/>
          <p:nvPr/>
        </p:nvSpPr>
        <p:spPr>
          <a:xfrm>
            <a:off x="1291488" y="1136462"/>
            <a:ext cx="4947184" cy="705016"/>
          </a:xfrm>
          <a:prstGeom prst="rect">
            <a:avLst/>
          </a:prstGeom>
        </p:spPr>
        <p:txBody>
          <a:bodyPr vert="horz" lIns="91440" tIns="45720" rIns="91440" bIns="45720" rtlCol="0" anchor="b">
            <a:normAutofit/>
          </a:bodyPr>
          <a:lstStyle/>
          <a:p>
            <a:pPr marL="0" marR="0" lvl="0" indent="0" algn="r" defTabSz="914400" rtl="0" eaLnBrk="1" fontAlgn="auto" latinLnBrk="0" hangingPunct="1">
              <a:lnSpc>
                <a:spcPct val="90000"/>
              </a:lnSpc>
              <a:spcBef>
                <a:spcPct val="0"/>
              </a:spcBef>
              <a:spcAft>
                <a:spcPts val="600"/>
              </a:spcAft>
              <a:buClrTx/>
              <a:buSzTx/>
              <a:buFontTx/>
              <a:buNone/>
              <a:tabLst/>
              <a:defRPr sz="5400" b="1">
                <a:solidFill>
                  <a:srgbClr val="FFFFFF"/>
                </a:solidFill>
              </a:defRPr>
            </a:pPr>
            <a:r>
              <a:rPr kumimoji="0" lang="en-US" sz="4200" b="1" i="0" u="none" strike="noStrike" kern="1200" cap="none" spc="0" normalizeH="0" baseline="0" noProof="0" dirty="0">
                <a:ln>
                  <a:noFill/>
                </a:ln>
                <a:solidFill>
                  <a:srgbClr val="FFFFFF"/>
                </a:solidFill>
                <a:effectLst/>
                <a:uLnTx/>
                <a:uFillTx/>
                <a:latin typeface="Calibri"/>
                <a:ea typeface="+mn-ea"/>
                <a:cs typeface="+mn-cs"/>
              </a:rPr>
              <a:t>Four Major Projects</a:t>
            </a:r>
          </a:p>
        </p:txBody>
      </p:sp>
    </p:spTree>
    <p:extLst>
      <p:ext uri="{BB962C8B-B14F-4D97-AF65-F5344CB8AC3E}">
        <p14:creationId xmlns:p14="http://schemas.microsoft.com/office/powerpoint/2010/main" val="18155026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3528CA-E87D-BFC3-8E84-D18F524185C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5360206-25EE-25FF-F8D6-F4E067B2C7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09BD8ECE-987E-9D4B-58F7-0C84B4112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9144000"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4EF8BC9B-1231-912A-194A-6CCFC89848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41640" y="-1720"/>
            <a:ext cx="881253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353CEE6A-9213-29F7-40AE-F9C97DC5D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4540" y="-1291"/>
            <a:ext cx="2706134"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a:extLst>
              <a:ext uri="{FF2B5EF4-FFF2-40B4-BE49-F238E27FC236}">
                <a16:creationId xmlns:a16="http://schemas.microsoft.com/office/drawing/2014/main" id="{AB7CE954-5262-51A8-2E3F-5E8620B93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3923854" y="1402819"/>
            <a:ext cx="4967533" cy="3741293"/>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 name="TextBox 1">
            <a:extLst>
              <a:ext uri="{FF2B5EF4-FFF2-40B4-BE49-F238E27FC236}">
                <a16:creationId xmlns:a16="http://schemas.microsoft.com/office/drawing/2014/main" id="{25CA9BE3-DBA9-DEAF-2FFA-3603FA22DF71}"/>
              </a:ext>
            </a:extLst>
          </p:cNvPr>
          <p:cNvSpPr txBox="1"/>
          <p:nvPr/>
        </p:nvSpPr>
        <p:spPr>
          <a:xfrm>
            <a:off x="753679" y="496447"/>
            <a:ext cx="4947184" cy="653092"/>
          </a:xfrm>
          <a:prstGeom prst="rect">
            <a:avLst/>
          </a:prstGeom>
        </p:spPr>
        <p:txBody>
          <a:bodyPr vert="horz" lIns="91440" tIns="45720" rIns="91440" bIns="45720" rtlCol="0" anchor="b">
            <a:normAutofit lnSpcReduction="10000"/>
          </a:bodyPr>
          <a:lstStyle/>
          <a:p>
            <a:pPr marL="0" marR="0" lvl="0" indent="0" algn="r" defTabSz="914400" rtl="0" eaLnBrk="1" fontAlgn="auto" latinLnBrk="0" hangingPunct="1">
              <a:lnSpc>
                <a:spcPct val="90000"/>
              </a:lnSpc>
              <a:spcBef>
                <a:spcPct val="0"/>
              </a:spcBef>
              <a:spcAft>
                <a:spcPts val="600"/>
              </a:spcAft>
              <a:buClrTx/>
              <a:buSzTx/>
              <a:buFontTx/>
              <a:buNone/>
              <a:tabLst/>
              <a:defRPr sz="5400" b="1">
                <a:solidFill>
                  <a:srgbClr val="FFFFFF"/>
                </a:solidFill>
              </a:defRPr>
            </a:pPr>
            <a:r>
              <a:rPr kumimoji="0" lang="en-US" sz="4200" b="1" i="0" u="none" strike="noStrike" kern="1200" cap="none" spc="0" normalizeH="0" baseline="0" noProof="0" dirty="0">
                <a:ln>
                  <a:noFill/>
                </a:ln>
                <a:solidFill>
                  <a:srgbClr val="FFFFFF"/>
                </a:solidFill>
                <a:effectLst/>
                <a:uLnTx/>
                <a:uFillTx/>
                <a:latin typeface="Calibri"/>
                <a:ea typeface="+mn-ea"/>
                <a:cs typeface="+mn-cs"/>
              </a:rPr>
              <a:t>Store Support - AGE </a:t>
            </a:r>
          </a:p>
        </p:txBody>
      </p:sp>
      <p:sp>
        <p:nvSpPr>
          <p:cNvPr id="19" name="Rectangle 18">
            <a:extLst>
              <a:ext uri="{FF2B5EF4-FFF2-40B4-BE49-F238E27FC236}">
                <a16:creationId xmlns:a16="http://schemas.microsoft.com/office/drawing/2014/main" id="{55E39A97-3A45-CD51-4697-6DB0A2E3C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735" y="4480038"/>
            <a:ext cx="9134528"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A4C929B2-E566-FC65-6A24-536393061643}"/>
              </a:ext>
            </a:extLst>
          </p:cNvPr>
          <p:cNvSpPr txBox="1"/>
          <p:nvPr/>
        </p:nvSpPr>
        <p:spPr>
          <a:xfrm>
            <a:off x="272310" y="1975001"/>
            <a:ext cx="8435953" cy="4266960"/>
          </a:xfrm>
          <a:prstGeom prst="rect">
            <a:avLst/>
          </a:prstGeom>
        </p:spPr>
        <p:txBody>
          <a:bodyPr vert="horz" lIns="91440" tIns="45720" rIns="91440" bIns="45720" rtlCol="0">
            <a:normAutofit/>
          </a:bodyPr>
          <a:lstStyle/>
          <a:p>
            <a:pPr defTabSz="914400">
              <a:lnSpc>
                <a:spcPct val="90000"/>
              </a:lnSpc>
              <a:spcBef>
                <a:spcPts val="1000"/>
              </a:spcBef>
              <a:defRPr sz="3200">
                <a:solidFill>
                  <a:srgbClr val="FFFFFF"/>
                </a:solidFill>
              </a:defRPr>
            </a:pPr>
            <a:r>
              <a:rPr lang="en-US" sz="2400" dirty="0">
                <a:solidFill>
                  <a:srgbClr val="FFFFFF"/>
                </a:solidFill>
              </a:rPr>
              <a:t>AMP First – Protecting Associate Activity Levels</a:t>
            </a:r>
          </a:p>
          <a:p>
            <a:pPr defTabSz="914400">
              <a:lnSpc>
                <a:spcPct val="90000"/>
              </a:lnSpc>
              <a:spcBef>
                <a:spcPts val="1000"/>
              </a:spcBef>
              <a:defRPr sz="3200">
                <a:solidFill>
                  <a:srgbClr val="FFFFFF"/>
                </a:solidFill>
              </a:defRPr>
            </a:pPr>
            <a:endParaRPr lang="en-US" sz="2400" dirty="0">
              <a:solidFill>
                <a:srgbClr val="FFFFFF"/>
              </a:solidFill>
            </a:endParaRPr>
          </a:p>
          <a:p>
            <a:pPr defTabSz="914400">
              <a:lnSpc>
                <a:spcPct val="90000"/>
              </a:lnSpc>
              <a:spcBef>
                <a:spcPts val="1000"/>
              </a:spcBef>
              <a:defRPr sz="3200">
                <a:solidFill>
                  <a:srgbClr val="FFFFFF"/>
                </a:solidFill>
              </a:defRPr>
            </a:pPr>
            <a:r>
              <a:rPr lang="en-US" sz="2400" i="1" dirty="0">
                <a:solidFill>
                  <a:srgbClr val="FFFFFF"/>
                </a:solidFill>
              </a:rPr>
              <a:t>Creating a Path that sends the following items through AMP First</a:t>
            </a:r>
          </a:p>
          <a:p>
            <a:pPr marL="800100" lvl="1" indent="-342900" defTabSz="914400">
              <a:lnSpc>
                <a:spcPct val="90000"/>
              </a:lnSpc>
              <a:spcBef>
                <a:spcPts val="1000"/>
              </a:spcBef>
              <a:buFont typeface="Arial" panose="020B0604020202020204" pitchFamily="34" charset="0"/>
              <a:buChar char="•"/>
              <a:defRPr sz="3200">
                <a:solidFill>
                  <a:srgbClr val="FFFFFF"/>
                </a:solidFill>
              </a:defRPr>
            </a:pPr>
            <a:r>
              <a:rPr lang="en-US" sz="2400" dirty="0">
                <a:solidFill>
                  <a:srgbClr val="FFFFFF"/>
                </a:solidFill>
              </a:rPr>
              <a:t>Store Updates &amp; Notification – Currently being done</a:t>
            </a:r>
          </a:p>
          <a:p>
            <a:pPr marL="800100" lvl="1" indent="-342900" defTabSz="914400">
              <a:lnSpc>
                <a:spcPct val="90000"/>
              </a:lnSpc>
              <a:spcBef>
                <a:spcPts val="1000"/>
              </a:spcBef>
              <a:buFont typeface="Arial" panose="020B0604020202020204" pitchFamily="34" charset="0"/>
              <a:buChar char="•"/>
              <a:defRPr sz="3200">
                <a:solidFill>
                  <a:srgbClr val="FFFFFF"/>
                </a:solidFill>
              </a:defRPr>
            </a:pPr>
            <a:r>
              <a:rPr lang="en-US" sz="2400" dirty="0">
                <a:solidFill>
                  <a:srgbClr val="FFFFFF"/>
                </a:solidFill>
              </a:rPr>
              <a:t>Store Visits</a:t>
            </a:r>
          </a:p>
          <a:p>
            <a:pPr marL="800100" lvl="1" indent="-342900" defTabSz="914400">
              <a:lnSpc>
                <a:spcPct val="90000"/>
              </a:lnSpc>
              <a:spcBef>
                <a:spcPts val="1000"/>
              </a:spcBef>
              <a:buFont typeface="Arial" panose="020B0604020202020204" pitchFamily="34" charset="0"/>
              <a:buChar char="•"/>
              <a:defRPr sz="3200">
                <a:solidFill>
                  <a:srgbClr val="FFFFFF"/>
                </a:solidFill>
              </a:defRPr>
            </a:pPr>
            <a:r>
              <a:rPr lang="en-US" sz="2400" dirty="0">
                <a:solidFill>
                  <a:srgbClr val="FFFFFF"/>
                </a:solidFill>
              </a:rPr>
              <a:t>Events</a:t>
            </a:r>
          </a:p>
          <a:p>
            <a:pPr marL="800100" lvl="1" indent="-342900" defTabSz="914400">
              <a:lnSpc>
                <a:spcPct val="90000"/>
              </a:lnSpc>
              <a:spcBef>
                <a:spcPts val="1000"/>
              </a:spcBef>
              <a:buFont typeface="Arial" panose="020B0604020202020204" pitchFamily="34" charset="0"/>
              <a:buChar char="•"/>
              <a:defRPr sz="3200">
                <a:solidFill>
                  <a:srgbClr val="FFFFFF"/>
                </a:solidFill>
              </a:defRPr>
            </a:pPr>
            <a:r>
              <a:rPr lang="en-US" sz="2400" dirty="0">
                <a:solidFill>
                  <a:srgbClr val="FFFFFF"/>
                </a:solidFill>
              </a:rPr>
              <a:t>Sidekick</a:t>
            </a:r>
          </a:p>
          <a:p>
            <a:pPr marL="800100" lvl="1" indent="-342900" defTabSz="914400">
              <a:lnSpc>
                <a:spcPct val="90000"/>
              </a:lnSpc>
              <a:spcBef>
                <a:spcPts val="1000"/>
              </a:spcBef>
              <a:buFont typeface="Arial" panose="020B0604020202020204" pitchFamily="34" charset="0"/>
              <a:buChar char="•"/>
              <a:defRPr sz="3200">
                <a:solidFill>
                  <a:srgbClr val="FFFFFF"/>
                </a:solidFill>
              </a:defRPr>
            </a:pPr>
            <a:r>
              <a:rPr lang="en-US" sz="2400" dirty="0">
                <a:solidFill>
                  <a:srgbClr val="FFFFFF"/>
                </a:solidFill>
              </a:rPr>
              <a:t>Notes</a:t>
            </a:r>
          </a:p>
          <a:p>
            <a:pPr marL="800100" lvl="1" indent="-342900" defTabSz="914400">
              <a:lnSpc>
                <a:spcPct val="90000"/>
              </a:lnSpc>
              <a:spcBef>
                <a:spcPts val="1000"/>
              </a:spcBef>
              <a:buFont typeface="Arial" panose="020B0604020202020204" pitchFamily="34" charset="0"/>
              <a:buChar char="•"/>
              <a:defRPr sz="3200">
                <a:solidFill>
                  <a:srgbClr val="FFFFFF"/>
                </a:solidFill>
              </a:defRPr>
            </a:pPr>
            <a:r>
              <a:rPr lang="fr-FR" sz="2400" dirty="0">
                <a:solidFill>
                  <a:srgbClr val="FFFFFF"/>
                </a:solidFill>
              </a:rPr>
              <a:t>Tour Guides – </a:t>
            </a:r>
            <a:r>
              <a:rPr lang="fr-FR" sz="2400" dirty="0" err="1">
                <a:solidFill>
                  <a:srgbClr val="FFFFFF"/>
                </a:solidFill>
              </a:rPr>
              <a:t>Digitalizing</a:t>
            </a:r>
            <a:r>
              <a:rPr lang="fr-FR" sz="2400" dirty="0">
                <a:solidFill>
                  <a:srgbClr val="FFFFFF"/>
                </a:solidFill>
              </a:rPr>
              <a:t> Store Guides Experience</a:t>
            </a:r>
          </a:p>
        </p:txBody>
      </p:sp>
      <p:sp>
        <p:nvSpPr>
          <p:cNvPr id="21" name="Rectangle 20">
            <a:extLst>
              <a:ext uri="{FF2B5EF4-FFF2-40B4-BE49-F238E27FC236}">
                <a16:creationId xmlns:a16="http://schemas.microsoft.com/office/drawing/2014/main" id="{6B9C3BDD-3153-BEEB-67BF-D73A63E4AE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368117" y="2081692"/>
            <a:ext cx="6857572" cy="2694194"/>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8" name="Picture 7" descr="A yellow circle with five pointed points&#10;&#10;AI-generated content may be incorrect.">
            <a:extLst>
              <a:ext uri="{FF2B5EF4-FFF2-40B4-BE49-F238E27FC236}">
                <a16:creationId xmlns:a16="http://schemas.microsoft.com/office/drawing/2014/main" id="{83BBEDB2-E0D3-EAB7-E5A2-C4E01B92C09C}"/>
              </a:ext>
            </a:extLst>
          </p:cNvPr>
          <p:cNvPicPr>
            <a:picLocks noChangeAspect="1"/>
          </p:cNvPicPr>
          <p:nvPr/>
        </p:nvPicPr>
        <p:blipFill>
          <a:blip r:embed="rId3"/>
          <a:stretch>
            <a:fillRect/>
          </a:stretch>
        </p:blipFill>
        <p:spPr>
          <a:xfrm>
            <a:off x="5559778" y="-159643"/>
            <a:ext cx="1789524" cy="1789524"/>
          </a:xfrm>
          <a:prstGeom prst="rect">
            <a:avLst/>
          </a:prstGeom>
        </p:spPr>
      </p:pic>
    </p:spTree>
    <p:extLst>
      <p:ext uri="{BB962C8B-B14F-4D97-AF65-F5344CB8AC3E}">
        <p14:creationId xmlns:p14="http://schemas.microsoft.com/office/powerpoint/2010/main" val="110692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792A7430-841C-641A-DAB6-20B5101F431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E0B70FC-5E88-FC6E-4E19-A428F3841F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9DBB4D4B-8092-4A14-066E-370B6A5C8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9144000"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B6424B3F-E22A-F593-7776-CB827CFF8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41640" y="-1720"/>
            <a:ext cx="881253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F371EB75-6CB5-AD1A-74A5-976458FBF9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4540" y="-1291"/>
            <a:ext cx="2706134"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a:extLst>
              <a:ext uri="{FF2B5EF4-FFF2-40B4-BE49-F238E27FC236}">
                <a16:creationId xmlns:a16="http://schemas.microsoft.com/office/drawing/2014/main" id="{396622D8-1706-3216-533E-1200AF061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3923854" y="1402819"/>
            <a:ext cx="4967533" cy="3741293"/>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9" name="Rectangle 18">
            <a:extLst>
              <a:ext uri="{FF2B5EF4-FFF2-40B4-BE49-F238E27FC236}">
                <a16:creationId xmlns:a16="http://schemas.microsoft.com/office/drawing/2014/main" id="{BD5A9A01-81C2-420C-724E-D318A3603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735" y="4480038"/>
            <a:ext cx="9134528"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9B2F06B8-A46A-CCD5-94D2-FC7B8CEF9C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368117" y="2081692"/>
            <a:ext cx="6857572" cy="2694194"/>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8" name="Picture 7" descr="A yellow circle with five pointed points&#10;&#10;AI-generated content may be incorrect.">
            <a:extLst>
              <a:ext uri="{FF2B5EF4-FFF2-40B4-BE49-F238E27FC236}">
                <a16:creationId xmlns:a16="http://schemas.microsoft.com/office/drawing/2014/main" id="{9AA857E4-5B93-7D2B-7AC7-93EA72FF8CA1}"/>
              </a:ext>
            </a:extLst>
          </p:cNvPr>
          <p:cNvPicPr>
            <a:picLocks noChangeAspect="1"/>
          </p:cNvPicPr>
          <p:nvPr/>
        </p:nvPicPr>
        <p:blipFill>
          <a:blip r:embed="rId3"/>
          <a:stretch>
            <a:fillRect/>
          </a:stretch>
        </p:blipFill>
        <p:spPr>
          <a:xfrm>
            <a:off x="7375884" y="-202185"/>
            <a:ext cx="1789524" cy="1789524"/>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6DFEF9D7-2268-E104-FE57-179955E7466D}"/>
              </a:ext>
            </a:extLst>
          </p:cNvPr>
          <p:cNvPicPr>
            <a:picLocks noChangeAspect="1"/>
          </p:cNvPicPr>
          <p:nvPr/>
        </p:nvPicPr>
        <p:blipFill>
          <a:blip r:embed="rId4"/>
          <a:stretch>
            <a:fillRect/>
          </a:stretch>
        </p:blipFill>
        <p:spPr>
          <a:xfrm>
            <a:off x="216188" y="468102"/>
            <a:ext cx="6768455" cy="4475914"/>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2" name="TextBox 11">
            <a:extLst>
              <a:ext uri="{FF2B5EF4-FFF2-40B4-BE49-F238E27FC236}">
                <a16:creationId xmlns:a16="http://schemas.microsoft.com/office/drawing/2014/main" id="{194AE3BB-C2A5-D04D-92D9-7EAE81890CA1}"/>
              </a:ext>
            </a:extLst>
          </p:cNvPr>
          <p:cNvSpPr txBox="1"/>
          <p:nvPr/>
        </p:nvSpPr>
        <p:spPr>
          <a:xfrm>
            <a:off x="66119" y="95432"/>
            <a:ext cx="4582732" cy="341632"/>
          </a:xfrm>
          <a:prstGeom prst="rect">
            <a:avLst/>
          </a:prstGeom>
          <a:noFill/>
        </p:spPr>
        <p:txBody>
          <a:bodyPr wrap="square">
            <a:spAutoFit/>
          </a:bodyPr>
          <a:lstStyle/>
          <a:p>
            <a:pPr marR="0" lvl="0" defTabSz="914400" rtl="0" eaLnBrk="1" fontAlgn="auto" latinLnBrk="0" hangingPunct="1">
              <a:lnSpc>
                <a:spcPct val="90000"/>
              </a:lnSpc>
              <a:spcBef>
                <a:spcPts val="1000"/>
              </a:spcBef>
              <a:spcAft>
                <a:spcPts val="0"/>
              </a:spcAft>
              <a:buClrTx/>
              <a:buSzTx/>
              <a:tabLst/>
              <a:defRPr sz="3200">
                <a:solidFill>
                  <a:srgbClr val="FFFFFF"/>
                </a:solidFill>
              </a:defRPr>
            </a:pPr>
            <a:r>
              <a:rPr kumimoji="0" lang="en-US" sz="1800" b="0" i="0" u="none" strike="noStrike" kern="1200" cap="none" spc="0" normalizeH="0" baseline="0" noProof="0" dirty="0">
                <a:ln>
                  <a:noFill/>
                </a:ln>
                <a:solidFill>
                  <a:srgbClr val="FFFFFF"/>
                </a:solidFill>
                <a:effectLst/>
                <a:uLnTx/>
                <a:uFillTx/>
                <a:latin typeface="Calibri"/>
                <a:ea typeface="+mn-ea"/>
                <a:cs typeface="+mn-cs"/>
              </a:rPr>
              <a:t>Distribution List Assistant</a:t>
            </a:r>
          </a:p>
        </p:txBody>
      </p:sp>
      <p:pic>
        <p:nvPicPr>
          <p:cNvPr id="16" name="Picture 15" descr="A screenshot of a email&#10;&#10;AI-generated content may be incorrect.">
            <a:extLst>
              <a:ext uri="{FF2B5EF4-FFF2-40B4-BE49-F238E27FC236}">
                <a16:creationId xmlns:a16="http://schemas.microsoft.com/office/drawing/2014/main" id="{D3C91007-F66F-F340-A2D6-C6A6884B1CA0}"/>
              </a:ext>
            </a:extLst>
          </p:cNvPr>
          <p:cNvPicPr>
            <a:picLocks noChangeAspect="1"/>
          </p:cNvPicPr>
          <p:nvPr/>
        </p:nvPicPr>
        <p:blipFill>
          <a:blip r:embed="rId5"/>
          <a:stretch>
            <a:fillRect/>
          </a:stretch>
        </p:blipFill>
        <p:spPr>
          <a:xfrm>
            <a:off x="3731460" y="4599776"/>
            <a:ext cx="4539186" cy="2154635"/>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cxnSp>
        <p:nvCxnSpPr>
          <p:cNvPr id="20" name="Straight Arrow Connector 19">
            <a:extLst>
              <a:ext uri="{FF2B5EF4-FFF2-40B4-BE49-F238E27FC236}">
                <a16:creationId xmlns:a16="http://schemas.microsoft.com/office/drawing/2014/main" id="{744B9014-9839-EB1E-5A6F-F741E183E7F7}"/>
              </a:ext>
            </a:extLst>
          </p:cNvPr>
          <p:cNvCxnSpPr/>
          <p:nvPr/>
        </p:nvCxnSpPr>
        <p:spPr>
          <a:xfrm>
            <a:off x="5761149" y="2442693"/>
            <a:ext cx="493690" cy="21937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63226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3AFE84F6-38C8-FB52-F92D-CAE68319CD6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6367A-18F3-33EA-DC96-84CD1A1532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C190479D-DC3C-50E8-9F9D-5A95693DD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9144000"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61715FA8-223D-A101-69D4-2E74B5D2A3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41640" y="-1720"/>
            <a:ext cx="881253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A5DBC37F-BB71-584B-455F-07A97E3188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4540" y="-1291"/>
            <a:ext cx="2706134"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a:extLst>
              <a:ext uri="{FF2B5EF4-FFF2-40B4-BE49-F238E27FC236}">
                <a16:creationId xmlns:a16="http://schemas.microsoft.com/office/drawing/2014/main" id="{A6FE33E2-73E1-70EA-CF73-160EA9D8B6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3923854" y="1402819"/>
            <a:ext cx="4967533" cy="3741293"/>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 name="TextBox 1">
            <a:extLst>
              <a:ext uri="{FF2B5EF4-FFF2-40B4-BE49-F238E27FC236}">
                <a16:creationId xmlns:a16="http://schemas.microsoft.com/office/drawing/2014/main" id="{641CAA9A-D273-FBBD-B56A-AB278896E263}"/>
              </a:ext>
            </a:extLst>
          </p:cNvPr>
          <p:cNvSpPr txBox="1"/>
          <p:nvPr/>
        </p:nvSpPr>
        <p:spPr>
          <a:xfrm>
            <a:off x="753679" y="496447"/>
            <a:ext cx="4947184" cy="653092"/>
          </a:xfrm>
          <a:prstGeom prst="rect">
            <a:avLst/>
          </a:prstGeom>
        </p:spPr>
        <p:txBody>
          <a:bodyPr vert="horz" lIns="91440" tIns="45720" rIns="91440" bIns="45720" rtlCol="0" anchor="b">
            <a:normAutofit lnSpcReduction="10000"/>
          </a:bodyPr>
          <a:lstStyle/>
          <a:p>
            <a:pPr marL="0" marR="0" lvl="0" indent="0" algn="r" defTabSz="914400" rtl="0" eaLnBrk="1" fontAlgn="auto" latinLnBrk="0" hangingPunct="1">
              <a:lnSpc>
                <a:spcPct val="90000"/>
              </a:lnSpc>
              <a:spcBef>
                <a:spcPct val="0"/>
              </a:spcBef>
              <a:spcAft>
                <a:spcPts val="600"/>
              </a:spcAft>
              <a:buClrTx/>
              <a:buSzTx/>
              <a:buFontTx/>
              <a:buNone/>
              <a:tabLst/>
              <a:defRPr sz="5400" b="1">
                <a:solidFill>
                  <a:srgbClr val="FFFFFF"/>
                </a:solidFill>
              </a:defRPr>
            </a:pPr>
            <a:r>
              <a:rPr kumimoji="0" lang="en-US" sz="4200" b="1" i="0" u="none" strike="noStrike" kern="1200" cap="none" spc="0" normalizeH="0" baseline="0" noProof="0" dirty="0">
                <a:ln>
                  <a:noFill/>
                </a:ln>
                <a:solidFill>
                  <a:srgbClr val="FFFFFF"/>
                </a:solidFill>
                <a:effectLst/>
                <a:uLnTx/>
                <a:uFillTx/>
                <a:latin typeface="Calibri"/>
                <a:ea typeface="+mn-ea"/>
                <a:cs typeface="+mn-cs"/>
              </a:rPr>
              <a:t>Store Support - AGE </a:t>
            </a:r>
          </a:p>
        </p:txBody>
      </p:sp>
      <p:sp>
        <p:nvSpPr>
          <p:cNvPr id="19" name="Rectangle 18">
            <a:extLst>
              <a:ext uri="{FF2B5EF4-FFF2-40B4-BE49-F238E27FC236}">
                <a16:creationId xmlns:a16="http://schemas.microsoft.com/office/drawing/2014/main" id="{B5F1F3A3-E2E8-59AA-6C90-DAE14C7743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735" y="4480038"/>
            <a:ext cx="9134528"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67E56B8D-DCFA-BE53-DB1E-9A1185CF46E9}"/>
              </a:ext>
            </a:extLst>
          </p:cNvPr>
          <p:cNvSpPr txBox="1"/>
          <p:nvPr/>
        </p:nvSpPr>
        <p:spPr>
          <a:xfrm>
            <a:off x="272310" y="1975001"/>
            <a:ext cx="8435953" cy="3519985"/>
          </a:xfrm>
          <a:prstGeom prst="rect">
            <a:avLst/>
          </a:prstGeom>
        </p:spPr>
        <p:txBody>
          <a:bodyPr vert="horz" lIns="91440" tIns="45720" rIns="91440" bIns="45720" rtlCol="0">
            <a:normAutofit fontScale="85000" lnSpcReduction="20000"/>
          </a:bodyPr>
          <a:lstStyle/>
          <a:p>
            <a:pPr marR="0" lvl="0" defTabSz="914400" rtl="0" eaLnBrk="1" fontAlgn="auto" latinLnBrk="0" hangingPunct="1">
              <a:lnSpc>
                <a:spcPct val="90000"/>
              </a:lnSpc>
              <a:spcBef>
                <a:spcPts val="1000"/>
              </a:spcBef>
              <a:spcAft>
                <a:spcPts val="0"/>
              </a:spcAft>
              <a:buClrTx/>
              <a:buSzTx/>
              <a:tabLst/>
              <a:defRPr sz="3200">
                <a:solidFill>
                  <a:srgbClr val="FFFFFF"/>
                </a:solidFill>
              </a:defRPr>
            </a:pPr>
            <a:r>
              <a:rPr kumimoji="0" lang="en-US" sz="2400" b="0" i="0" u="none" strike="noStrike" kern="1200" cap="none" spc="0" normalizeH="0" baseline="0" noProof="0" dirty="0">
                <a:ln>
                  <a:noFill/>
                </a:ln>
                <a:solidFill>
                  <a:srgbClr val="FFFFFF"/>
                </a:solidFill>
                <a:effectLst/>
                <a:uLnTx/>
                <a:uFillTx/>
                <a:latin typeface="Calibri"/>
                <a:ea typeface="+mn-ea"/>
                <a:cs typeface="+mn-cs"/>
              </a:rPr>
              <a:t>Tour Guides – Digitalizing Store Guides Experience</a:t>
            </a:r>
            <a:br>
              <a:rPr kumimoji="0" lang="en-US" sz="2400" b="0" i="0" u="none" strike="noStrike" kern="1200" cap="none" spc="0" normalizeH="0" baseline="0" noProof="0" dirty="0">
                <a:ln>
                  <a:noFill/>
                </a:ln>
                <a:solidFill>
                  <a:srgbClr val="FFFFFF"/>
                </a:solidFill>
                <a:effectLst/>
                <a:uLnTx/>
                <a:uFillTx/>
                <a:latin typeface="Calibri"/>
                <a:ea typeface="+mn-ea"/>
                <a:cs typeface="+mn-cs"/>
              </a:rPr>
            </a:br>
            <a:br>
              <a:rPr kumimoji="0" lang="en-US" sz="2400" b="0" i="0" u="none" strike="noStrike" kern="1200" cap="none" spc="0" normalizeH="0" baseline="0" noProof="0" dirty="0">
                <a:ln>
                  <a:noFill/>
                </a:ln>
                <a:solidFill>
                  <a:srgbClr val="FFFFFF"/>
                </a:solidFill>
                <a:effectLst/>
                <a:uLnTx/>
                <a:uFillTx/>
                <a:latin typeface="Calibri"/>
                <a:ea typeface="+mn-ea"/>
                <a:cs typeface="+mn-cs"/>
              </a:rPr>
            </a:br>
            <a:r>
              <a:rPr kumimoji="0" lang="en-US" sz="2400" b="0" i="0" u="none" strike="noStrike" kern="1200" cap="none" spc="0" normalizeH="0" baseline="0" noProof="0" dirty="0">
                <a:ln>
                  <a:noFill/>
                </a:ln>
                <a:solidFill>
                  <a:srgbClr val="FFFFFF"/>
                </a:solidFill>
                <a:effectLst/>
                <a:uLnTx/>
                <a:uFillTx/>
                <a:latin typeface="Calibri"/>
                <a:ea typeface="+mn-ea"/>
                <a:cs typeface="+mn-cs"/>
              </a:rPr>
              <a:t>Project is on track for 1/3/2026. </a:t>
            </a:r>
          </a:p>
          <a:p>
            <a:pPr marR="0" lvl="0" defTabSz="914400" rtl="0" eaLnBrk="1" fontAlgn="auto" latinLnBrk="0" hangingPunct="1">
              <a:lnSpc>
                <a:spcPct val="90000"/>
              </a:lnSpc>
              <a:spcBef>
                <a:spcPts val="1000"/>
              </a:spcBef>
              <a:spcAft>
                <a:spcPts val="0"/>
              </a:spcAft>
              <a:buClrTx/>
              <a:buSzTx/>
              <a:tabLst/>
              <a:defRPr sz="3200">
                <a:solidFill>
                  <a:srgbClr val="FFFFFF"/>
                </a:solidFill>
              </a:defRPr>
            </a:pPr>
            <a:r>
              <a:rPr lang="en-US" sz="2400" dirty="0">
                <a:solidFill>
                  <a:srgbClr val="FFFFFF"/>
                </a:solidFill>
                <a:latin typeface="Calibri"/>
              </a:rPr>
              <a:t>Next steps:</a:t>
            </a:r>
          </a:p>
          <a:p>
            <a:pPr lvl="1" defTabSz="914400">
              <a:lnSpc>
                <a:spcPct val="90000"/>
              </a:lnSpc>
              <a:spcBef>
                <a:spcPts val="1000"/>
              </a:spcBef>
              <a:defRPr sz="3200">
                <a:solidFill>
                  <a:srgbClr val="FFFFFF"/>
                </a:solidFill>
              </a:defRPr>
            </a:pPr>
            <a:r>
              <a:rPr lang="en-US" sz="2400" dirty="0">
                <a:solidFill>
                  <a:srgbClr val="FFFFFF"/>
                </a:solidFill>
                <a:latin typeface="Calibri"/>
              </a:rPr>
              <a:t>Testing Next Week </a:t>
            </a:r>
          </a:p>
          <a:p>
            <a:pPr lvl="1" defTabSz="914400">
              <a:lnSpc>
                <a:spcPct val="90000"/>
              </a:lnSpc>
              <a:spcBef>
                <a:spcPts val="1000"/>
              </a:spcBef>
              <a:defRPr sz="3200">
                <a:solidFill>
                  <a:srgbClr val="FFFFFF"/>
                </a:solidFill>
              </a:defRPr>
            </a:pPr>
            <a:r>
              <a:rPr lang="en-US" sz="2400" dirty="0">
                <a:solidFill>
                  <a:srgbClr val="FFFFFF"/>
                </a:solidFill>
                <a:latin typeface="Calibri"/>
              </a:rPr>
              <a:t>Finalize and Launch 1/3/26</a:t>
            </a:r>
          </a:p>
          <a:p>
            <a:pPr lvl="1" defTabSz="914400">
              <a:lnSpc>
                <a:spcPct val="90000"/>
              </a:lnSpc>
              <a:spcBef>
                <a:spcPts val="1000"/>
              </a:spcBef>
              <a:defRPr sz="3200">
                <a:solidFill>
                  <a:srgbClr val="FFFFFF"/>
                </a:solidFill>
              </a:defRPr>
            </a:pPr>
            <a:r>
              <a:rPr lang="en-US" sz="2400" dirty="0">
                <a:solidFill>
                  <a:srgbClr val="FFFFFF"/>
                </a:solidFill>
                <a:latin typeface="Calibri"/>
              </a:rPr>
              <a:t>Review and Analyze Data</a:t>
            </a:r>
          </a:p>
          <a:p>
            <a:pPr lvl="1" defTabSz="914400">
              <a:lnSpc>
                <a:spcPct val="90000"/>
              </a:lnSpc>
              <a:spcBef>
                <a:spcPts val="1000"/>
              </a:spcBef>
              <a:defRPr sz="3200">
                <a:solidFill>
                  <a:srgbClr val="FFFFFF"/>
                </a:solidFill>
              </a:defRPr>
            </a:pPr>
            <a:r>
              <a:rPr lang="en-US" sz="2400" dirty="0">
                <a:solidFill>
                  <a:srgbClr val="FFFFFF"/>
                </a:solidFill>
                <a:latin typeface="Calibri"/>
              </a:rPr>
              <a:t>Business Owner Dashboard Phase 2</a:t>
            </a:r>
          </a:p>
          <a:p>
            <a:pPr lvl="1" defTabSz="914400">
              <a:lnSpc>
                <a:spcPct val="90000"/>
              </a:lnSpc>
              <a:spcBef>
                <a:spcPts val="1000"/>
              </a:spcBef>
              <a:defRPr sz="3200">
                <a:solidFill>
                  <a:srgbClr val="FFFFFF"/>
                </a:solidFill>
              </a:defRPr>
            </a:pPr>
            <a:r>
              <a:rPr lang="en-US" sz="2400" dirty="0">
                <a:solidFill>
                  <a:srgbClr val="FFFFFF"/>
                </a:solidFill>
                <a:latin typeface="Calibri"/>
              </a:rPr>
              <a:t>Multi-Guide Input/Output</a:t>
            </a:r>
          </a:p>
          <a:p>
            <a:pPr lvl="1" defTabSz="914400">
              <a:lnSpc>
                <a:spcPct val="90000"/>
              </a:lnSpc>
              <a:spcBef>
                <a:spcPts val="1000"/>
              </a:spcBef>
              <a:defRPr sz="3200">
                <a:solidFill>
                  <a:srgbClr val="FFFFFF"/>
                </a:solidFill>
              </a:defRPr>
            </a:pPr>
            <a:endParaRPr lang="en-US" sz="2400" dirty="0">
              <a:solidFill>
                <a:srgbClr val="FFFFFF"/>
              </a:solidFill>
              <a:latin typeface="Calibri"/>
            </a:endParaRPr>
          </a:p>
          <a:p>
            <a:pPr defTabSz="914400">
              <a:lnSpc>
                <a:spcPct val="90000"/>
              </a:lnSpc>
              <a:spcBef>
                <a:spcPts val="1000"/>
              </a:spcBef>
              <a:defRPr sz="3200">
                <a:solidFill>
                  <a:srgbClr val="FFFFFF"/>
                </a:solidFill>
              </a:defRPr>
            </a:pPr>
            <a:r>
              <a:rPr lang="en-US" sz="2400" dirty="0">
                <a:solidFill>
                  <a:srgbClr val="FFFFFF"/>
                </a:solidFill>
                <a:latin typeface="Calibri"/>
              </a:rPr>
              <a:t>Project Ownership</a:t>
            </a:r>
          </a:p>
          <a:p>
            <a:pPr marR="0" lvl="0" defTabSz="914400" rtl="0" eaLnBrk="1" fontAlgn="auto" latinLnBrk="0" hangingPunct="1">
              <a:lnSpc>
                <a:spcPct val="90000"/>
              </a:lnSpc>
              <a:spcBef>
                <a:spcPts val="1000"/>
              </a:spcBef>
              <a:spcAft>
                <a:spcPts val="0"/>
              </a:spcAft>
              <a:buClrTx/>
              <a:buSzTx/>
              <a:tabLst/>
              <a:defRPr sz="3200">
                <a:solidFill>
                  <a:srgbClr val="FFFFFF"/>
                </a:solidFill>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BFF85977-3E66-3F59-19A4-25DD026600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368117" y="2081692"/>
            <a:ext cx="6857572" cy="2694194"/>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8" name="Picture 7" descr="A yellow circle with five pointed points&#10;&#10;AI-generated content may be incorrect.">
            <a:extLst>
              <a:ext uri="{FF2B5EF4-FFF2-40B4-BE49-F238E27FC236}">
                <a16:creationId xmlns:a16="http://schemas.microsoft.com/office/drawing/2014/main" id="{2159B6DD-7D73-C236-DFE3-9D42526B173D}"/>
              </a:ext>
            </a:extLst>
          </p:cNvPr>
          <p:cNvPicPr>
            <a:picLocks noChangeAspect="1"/>
          </p:cNvPicPr>
          <p:nvPr/>
        </p:nvPicPr>
        <p:blipFill>
          <a:blip r:embed="rId3"/>
          <a:stretch>
            <a:fillRect/>
          </a:stretch>
        </p:blipFill>
        <p:spPr>
          <a:xfrm>
            <a:off x="5559778" y="-159643"/>
            <a:ext cx="1789524" cy="1789524"/>
          </a:xfrm>
          <a:prstGeom prst="rect">
            <a:avLst/>
          </a:prstGeom>
        </p:spPr>
      </p:pic>
    </p:spTree>
    <p:extLst>
      <p:ext uri="{BB962C8B-B14F-4D97-AF65-F5344CB8AC3E}">
        <p14:creationId xmlns:p14="http://schemas.microsoft.com/office/powerpoint/2010/main" val="4021642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E1D6838A-BB2D-3355-7168-23054BD93B6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948B3E9-7B69-C3B2-59A0-96EB43F54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0501097B-5928-AB11-B0F3-EADAD4C20A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9144000"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3CAD8E09-BF9B-C9EE-7D92-8460BCB960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41640" y="-1720"/>
            <a:ext cx="881253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BD5B3EEC-F8E5-9D76-748B-1585356552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4540" y="-1291"/>
            <a:ext cx="2706134"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a:extLst>
              <a:ext uri="{FF2B5EF4-FFF2-40B4-BE49-F238E27FC236}">
                <a16:creationId xmlns:a16="http://schemas.microsoft.com/office/drawing/2014/main" id="{1F69601A-7BC7-4368-C8E2-796C90D317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3923854" y="1402819"/>
            <a:ext cx="4967533" cy="3741293"/>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9" name="Rectangle 18">
            <a:extLst>
              <a:ext uri="{FF2B5EF4-FFF2-40B4-BE49-F238E27FC236}">
                <a16:creationId xmlns:a16="http://schemas.microsoft.com/office/drawing/2014/main" id="{0C73EAFF-FA7E-9420-E1EF-8C02D71068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735" y="4480038"/>
            <a:ext cx="9134528"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4E2E7B90-6E1B-2788-2021-F548279854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368117" y="2081692"/>
            <a:ext cx="6857572" cy="2694194"/>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8" name="Picture 7" descr="A yellow circle with five pointed points&#10;&#10;AI-generated content may be incorrect.">
            <a:extLst>
              <a:ext uri="{FF2B5EF4-FFF2-40B4-BE49-F238E27FC236}">
                <a16:creationId xmlns:a16="http://schemas.microsoft.com/office/drawing/2014/main" id="{D138B11B-8254-367B-7C62-8F11A75FFD84}"/>
              </a:ext>
            </a:extLst>
          </p:cNvPr>
          <p:cNvPicPr>
            <a:picLocks noChangeAspect="1"/>
          </p:cNvPicPr>
          <p:nvPr/>
        </p:nvPicPr>
        <p:blipFill>
          <a:blip r:embed="rId3"/>
          <a:stretch>
            <a:fillRect/>
          </a:stretch>
        </p:blipFill>
        <p:spPr>
          <a:xfrm>
            <a:off x="7375884" y="-202185"/>
            <a:ext cx="1789524" cy="1789524"/>
          </a:xfrm>
          <a:prstGeom prst="rect">
            <a:avLst/>
          </a:prstGeom>
        </p:spPr>
      </p:pic>
      <p:sp>
        <p:nvSpPr>
          <p:cNvPr id="12" name="TextBox 11">
            <a:extLst>
              <a:ext uri="{FF2B5EF4-FFF2-40B4-BE49-F238E27FC236}">
                <a16:creationId xmlns:a16="http://schemas.microsoft.com/office/drawing/2014/main" id="{A09EED4C-C868-4D21-FEE8-10817F45F5F0}"/>
              </a:ext>
            </a:extLst>
          </p:cNvPr>
          <p:cNvSpPr txBox="1"/>
          <p:nvPr/>
        </p:nvSpPr>
        <p:spPr>
          <a:xfrm>
            <a:off x="66119" y="95432"/>
            <a:ext cx="5398816" cy="535531"/>
          </a:xfrm>
          <a:prstGeom prst="rect">
            <a:avLst/>
          </a:prstGeom>
          <a:noFill/>
        </p:spPr>
        <p:txBody>
          <a:bodyPr wrap="square">
            <a:spAutoFit/>
          </a:bodyPr>
          <a:lstStyle/>
          <a:p>
            <a:pPr lvl="0" defTabSz="914400">
              <a:lnSpc>
                <a:spcPct val="90000"/>
              </a:lnSpc>
              <a:spcBef>
                <a:spcPts val="1000"/>
              </a:spcBef>
              <a:defRPr sz="3200">
                <a:solidFill>
                  <a:srgbClr val="FFFFFF"/>
                </a:solidFill>
              </a:defRPr>
            </a:pPr>
            <a:r>
              <a:rPr lang="en-US" dirty="0">
                <a:solidFill>
                  <a:srgbClr val="FFFFFF"/>
                </a:solidFill>
              </a:rPr>
              <a:t>Tour Guides – Store Refresh</a:t>
            </a: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pic>
        <p:nvPicPr>
          <p:cNvPr id="2" name="Picture 1">
            <a:extLst>
              <a:ext uri="{FF2B5EF4-FFF2-40B4-BE49-F238E27FC236}">
                <a16:creationId xmlns:a16="http://schemas.microsoft.com/office/drawing/2014/main" id="{D48CD728-E2E9-A878-DACE-FBD2FB14929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8779" y="1899450"/>
            <a:ext cx="1871147" cy="4157847"/>
          </a:xfrm>
          <a:prstGeom prst="rect">
            <a:avLst/>
          </a:prstGeom>
        </p:spPr>
      </p:pic>
      <p:pic>
        <p:nvPicPr>
          <p:cNvPr id="3" name="Picture 2">
            <a:extLst>
              <a:ext uri="{FF2B5EF4-FFF2-40B4-BE49-F238E27FC236}">
                <a16:creationId xmlns:a16="http://schemas.microsoft.com/office/drawing/2014/main" id="{B46FBDF6-5001-CD59-94BE-E312DA115DD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446792" y="1899191"/>
            <a:ext cx="1871147" cy="4158106"/>
          </a:xfrm>
          <a:prstGeom prst="rect">
            <a:avLst/>
          </a:prstGeom>
        </p:spPr>
      </p:pic>
      <p:pic>
        <p:nvPicPr>
          <p:cNvPr id="4" name="Picture 3" descr="A screenshot of a phone&#10;&#10;AI-generated content may be incorrect.">
            <a:extLst>
              <a:ext uri="{FF2B5EF4-FFF2-40B4-BE49-F238E27FC236}">
                <a16:creationId xmlns:a16="http://schemas.microsoft.com/office/drawing/2014/main" id="{213DCF40-0A01-E330-CC73-1669B60B8F8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405917" y="1899191"/>
            <a:ext cx="1850157" cy="4111460"/>
          </a:xfrm>
          <a:prstGeom prst="rect">
            <a:avLst/>
          </a:prstGeom>
        </p:spPr>
      </p:pic>
      <p:pic>
        <p:nvPicPr>
          <p:cNvPr id="5" name="Picture 4">
            <a:extLst>
              <a:ext uri="{FF2B5EF4-FFF2-40B4-BE49-F238E27FC236}">
                <a16:creationId xmlns:a16="http://schemas.microsoft.com/office/drawing/2014/main" id="{22EACE1A-F900-BA47-073B-5181784D926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344052" y="1887828"/>
            <a:ext cx="1855271" cy="4122823"/>
          </a:xfrm>
          <a:prstGeom prst="rect">
            <a:avLst/>
          </a:prstGeom>
        </p:spPr>
      </p:pic>
    </p:spTree>
    <p:extLst>
      <p:ext uri="{BB962C8B-B14F-4D97-AF65-F5344CB8AC3E}">
        <p14:creationId xmlns:p14="http://schemas.microsoft.com/office/powerpoint/2010/main" val="3096777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587FDE-D214-B206-3B68-1B4CFF6D94A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2741FE-7A1D-6FA2-D8D3-8B28C36E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2241DCD0-A742-194F-9621-E11A2F312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9144000"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ABC70289-6DEC-45C8-BF7B-C704873FE1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41640" y="-1720"/>
            <a:ext cx="881253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03E64A75-A401-DD54-8BEC-25A9E191F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4540" y="-1291"/>
            <a:ext cx="2706134"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a:extLst>
              <a:ext uri="{FF2B5EF4-FFF2-40B4-BE49-F238E27FC236}">
                <a16:creationId xmlns:a16="http://schemas.microsoft.com/office/drawing/2014/main" id="{C08131E6-3F65-8C20-7DDD-C56533FDA1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3923854" y="1402819"/>
            <a:ext cx="4967533" cy="3741293"/>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 name="TextBox 1">
            <a:extLst>
              <a:ext uri="{FF2B5EF4-FFF2-40B4-BE49-F238E27FC236}">
                <a16:creationId xmlns:a16="http://schemas.microsoft.com/office/drawing/2014/main" id="{2C4C8106-9E5F-EA59-B3EB-F2B05549CC94}"/>
              </a:ext>
            </a:extLst>
          </p:cNvPr>
          <p:cNvSpPr txBox="1"/>
          <p:nvPr/>
        </p:nvSpPr>
        <p:spPr>
          <a:xfrm>
            <a:off x="753679" y="496447"/>
            <a:ext cx="4947184" cy="653092"/>
          </a:xfrm>
          <a:prstGeom prst="rect">
            <a:avLst/>
          </a:prstGeom>
        </p:spPr>
        <p:txBody>
          <a:bodyPr vert="horz" lIns="91440" tIns="45720" rIns="91440" bIns="45720" rtlCol="0" anchor="b">
            <a:normAutofit lnSpcReduction="10000"/>
          </a:bodyPr>
          <a:lstStyle/>
          <a:p>
            <a:pPr marL="0" marR="0" lvl="0" indent="0" algn="r" defTabSz="914400" rtl="0" eaLnBrk="1" fontAlgn="auto" latinLnBrk="0" hangingPunct="1">
              <a:lnSpc>
                <a:spcPct val="90000"/>
              </a:lnSpc>
              <a:spcBef>
                <a:spcPct val="0"/>
              </a:spcBef>
              <a:spcAft>
                <a:spcPts val="600"/>
              </a:spcAft>
              <a:buClrTx/>
              <a:buSzTx/>
              <a:buFontTx/>
              <a:buNone/>
              <a:tabLst/>
              <a:defRPr sz="5400" b="1">
                <a:solidFill>
                  <a:srgbClr val="FFFFFF"/>
                </a:solidFill>
              </a:defRPr>
            </a:pPr>
            <a:r>
              <a:rPr kumimoji="0" lang="en-US" sz="4200" b="1" i="0" u="none" strike="noStrike" kern="1200" cap="none" spc="0" normalizeH="0" baseline="0" noProof="0" dirty="0">
                <a:ln>
                  <a:noFill/>
                </a:ln>
                <a:solidFill>
                  <a:srgbClr val="FFFFFF"/>
                </a:solidFill>
                <a:effectLst/>
                <a:uLnTx/>
                <a:uFillTx/>
                <a:latin typeface="Calibri"/>
                <a:ea typeface="+mn-ea"/>
                <a:cs typeface="+mn-cs"/>
              </a:rPr>
              <a:t>Store Support - AGE </a:t>
            </a:r>
          </a:p>
        </p:txBody>
      </p:sp>
      <p:sp>
        <p:nvSpPr>
          <p:cNvPr id="19" name="Rectangle 18">
            <a:extLst>
              <a:ext uri="{FF2B5EF4-FFF2-40B4-BE49-F238E27FC236}">
                <a16:creationId xmlns:a16="http://schemas.microsoft.com/office/drawing/2014/main" id="{6AB46469-78CA-F370-138F-C26E0DB35E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735" y="4480038"/>
            <a:ext cx="9134528"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00F0A345-EE9D-ED44-5D8C-150E98D6D256}"/>
              </a:ext>
            </a:extLst>
          </p:cNvPr>
          <p:cNvSpPr txBox="1"/>
          <p:nvPr/>
        </p:nvSpPr>
        <p:spPr>
          <a:xfrm>
            <a:off x="272310" y="1975001"/>
            <a:ext cx="8435953" cy="2081843"/>
          </a:xfrm>
          <a:prstGeom prst="rect">
            <a:avLst/>
          </a:prstGeom>
        </p:spPr>
        <p:txBody>
          <a:bodyPr vert="horz" lIns="91440" tIns="45720" rIns="91440" bIns="45720" rtlCol="0">
            <a:normAutofit/>
          </a:bodyPr>
          <a:lstStyle/>
          <a:p>
            <a:pPr marR="0" lvl="0" defTabSz="914400" rtl="0" eaLnBrk="1" fontAlgn="auto" latinLnBrk="0" hangingPunct="1">
              <a:lnSpc>
                <a:spcPct val="90000"/>
              </a:lnSpc>
              <a:spcBef>
                <a:spcPts val="1000"/>
              </a:spcBef>
              <a:spcAft>
                <a:spcPts val="0"/>
              </a:spcAft>
              <a:buClrTx/>
              <a:buSzTx/>
              <a:tabLst/>
              <a:defRPr sz="3200">
                <a:solidFill>
                  <a:srgbClr val="FFFFFF"/>
                </a:solidFill>
              </a:defRPr>
            </a:pPr>
            <a:r>
              <a:rPr kumimoji="0" lang="en-US" sz="2400" b="0" i="0" u="none" strike="noStrike" kern="1200" cap="none" spc="0" normalizeH="0" baseline="0" noProof="0" dirty="0">
                <a:ln>
                  <a:noFill/>
                </a:ln>
                <a:solidFill>
                  <a:srgbClr val="FFFFFF"/>
                </a:solidFill>
                <a:effectLst/>
                <a:uLnTx/>
                <a:uFillTx/>
                <a:latin typeface="Calibri"/>
                <a:ea typeface="+mn-ea"/>
                <a:cs typeface="+mn-cs"/>
              </a:rPr>
              <a:t>Targeting Alignment (Job-Codes to Dept)</a:t>
            </a:r>
          </a:p>
          <a:p>
            <a:pPr marR="0" lvl="0" defTabSz="914400" rtl="0" eaLnBrk="1" fontAlgn="auto" latinLnBrk="0" hangingPunct="1">
              <a:lnSpc>
                <a:spcPct val="90000"/>
              </a:lnSpc>
              <a:spcBef>
                <a:spcPts val="1000"/>
              </a:spcBef>
              <a:spcAft>
                <a:spcPts val="0"/>
              </a:spcAft>
              <a:buClrTx/>
              <a:buSzTx/>
              <a:tabLst/>
              <a:defRPr sz="3200">
                <a:solidFill>
                  <a:srgbClr val="FFFFFF"/>
                </a:solidFill>
              </a:defRPr>
            </a:pPr>
            <a:endParaRPr lang="en-US" sz="2400" dirty="0">
              <a:solidFill>
                <a:srgbClr val="FFFFFF"/>
              </a:solidFill>
              <a:latin typeface="Calibri"/>
            </a:endParaRPr>
          </a:p>
          <a:p>
            <a:pPr marR="0" lvl="0" defTabSz="914400" rtl="0" eaLnBrk="1" fontAlgn="auto" latinLnBrk="0" hangingPunct="1">
              <a:lnSpc>
                <a:spcPct val="90000"/>
              </a:lnSpc>
              <a:spcBef>
                <a:spcPts val="1000"/>
              </a:spcBef>
              <a:spcAft>
                <a:spcPts val="0"/>
              </a:spcAft>
              <a:buClrTx/>
              <a:buSzTx/>
              <a:tabLst/>
              <a:defRPr sz="3200">
                <a:solidFill>
                  <a:srgbClr val="FFFFFF"/>
                </a:solidFill>
              </a:defRPr>
            </a:pPr>
            <a:r>
              <a:rPr kumimoji="0" lang="en-US" sz="2400" b="0" i="0" u="none" strike="noStrike" kern="1200" cap="none" spc="0" normalizeH="0" baseline="0" noProof="0" dirty="0">
                <a:ln>
                  <a:noFill/>
                </a:ln>
                <a:solidFill>
                  <a:srgbClr val="FFFFFF"/>
                </a:solidFill>
                <a:effectLst/>
                <a:uLnTx/>
                <a:uFillTx/>
                <a:latin typeface="Calibri"/>
                <a:ea typeface="+mn-ea"/>
                <a:cs typeface="+mn-cs"/>
              </a:rPr>
              <a:t>Aligning our data and ways of working to ensure that we are reaching the associates in the right places in the store, and across all platforms. </a:t>
            </a:r>
          </a:p>
        </p:txBody>
      </p:sp>
      <p:sp>
        <p:nvSpPr>
          <p:cNvPr id="21" name="Rectangle 20">
            <a:extLst>
              <a:ext uri="{FF2B5EF4-FFF2-40B4-BE49-F238E27FC236}">
                <a16:creationId xmlns:a16="http://schemas.microsoft.com/office/drawing/2014/main" id="{2E30802B-1CBD-9524-3CF9-70CFA309BA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368117" y="2081692"/>
            <a:ext cx="6857572" cy="2694194"/>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8" name="Picture 7" descr="A yellow circle with five pointed points&#10;&#10;AI-generated content may be incorrect.">
            <a:extLst>
              <a:ext uri="{FF2B5EF4-FFF2-40B4-BE49-F238E27FC236}">
                <a16:creationId xmlns:a16="http://schemas.microsoft.com/office/drawing/2014/main" id="{22342C2E-12F6-673E-0013-A9FF1BEF244F}"/>
              </a:ext>
            </a:extLst>
          </p:cNvPr>
          <p:cNvPicPr>
            <a:picLocks noChangeAspect="1"/>
          </p:cNvPicPr>
          <p:nvPr/>
        </p:nvPicPr>
        <p:blipFill>
          <a:blip r:embed="rId3"/>
          <a:stretch>
            <a:fillRect/>
          </a:stretch>
        </p:blipFill>
        <p:spPr>
          <a:xfrm>
            <a:off x="5559778" y="-159643"/>
            <a:ext cx="1789524" cy="1789524"/>
          </a:xfrm>
          <a:prstGeom prst="rect">
            <a:avLst/>
          </a:prstGeom>
        </p:spPr>
      </p:pic>
    </p:spTree>
    <p:extLst>
      <p:ext uri="{BB962C8B-B14F-4D97-AF65-F5344CB8AC3E}">
        <p14:creationId xmlns:p14="http://schemas.microsoft.com/office/powerpoint/2010/main" val="550151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045BAD-97FA-AE46-BAC8-DBDE643BB42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1BD8812-62E2-7EC7-99E4-3880D54D9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0334C4B6-D20B-BCCC-F05E-22040BDDAB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9144000"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A59B93B9-3837-0B59-B3C8-5232E027D2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41640" y="-1720"/>
            <a:ext cx="881253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D1844829-89C4-38AC-139B-88F329CE60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4540" y="-1291"/>
            <a:ext cx="2706134"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a:extLst>
              <a:ext uri="{FF2B5EF4-FFF2-40B4-BE49-F238E27FC236}">
                <a16:creationId xmlns:a16="http://schemas.microsoft.com/office/drawing/2014/main" id="{A120C3AD-E362-C85F-24FA-DE0746FE61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3923854" y="1402819"/>
            <a:ext cx="4967533" cy="3741293"/>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 name="TextBox 1">
            <a:extLst>
              <a:ext uri="{FF2B5EF4-FFF2-40B4-BE49-F238E27FC236}">
                <a16:creationId xmlns:a16="http://schemas.microsoft.com/office/drawing/2014/main" id="{190CD9E5-9951-E3B2-FD4E-15F1D90E9ABB}"/>
              </a:ext>
            </a:extLst>
          </p:cNvPr>
          <p:cNvSpPr txBox="1"/>
          <p:nvPr/>
        </p:nvSpPr>
        <p:spPr>
          <a:xfrm>
            <a:off x="753679" y="496447"/>
            <a:ext cx="4947184" cy="653092"/>
          </a:xfrm>
          <a:prstGeom prst="rect">
            <a:avLst/>
          </a:prstGeom>
        </p:spPr>
        <p:txBody>
          <a:bodyPr vert="horz" lIns="91440" tIns="45720" rIns="91440" bIns="45720" rtlCol="0" anchor="b">
            <a:normAutofit lnSpcReduction="10000"/>
          </a:bodyPr>
          <a:lstStyle/>
          <a:p>
            <a:pPr marL="0" marR="0" lvl="0" indent="0" algn="r" defTabSz="914400" rtl="0" eaLnBrk="1" fontAlgn="auto" latinLnBrk="0" hangingPunct="1">
              <a:lnSpc>
                <a:spcPct val="90000"/>
              </a:lnSpc>
              <a:spcBef>
                <a:spcPct val="0"/>
              </a:spcBef>
              <a:spcAft>
                <a:spcPts val="600"/>
              </a:spcAft>
              <a:buClrTx/>
              <a:buSzTx/>
              <a:buFontTx/>
              <a:buNone/>
              <a:tabLst/>
              <a:defRPr sz="5400" b="1">
                <a:solidFill>
                  <a:srgbClr val="FFFFFF"/>
                </a:solidFill>
              </a:defRPr>
            </a:pPr>
            <a:r>
              <a:rPr kumimoji="0" lang="en-US" sz="4200" b="1" i="0" u="none" strike="noStrike" kern="1200" cap="none" spc="0" normalizeH="0" baseline="0" noProof="0" dirty="0">
                <a:ln>
                  <a:noFill/>
                </a:ln>
                <a:solidFill>
                  <a:srgbClr val="FFFFFF"/>
                </a:solidFill>
                <a:effectLst/>
                <a:uLnTx/>
                <a:uFillTx/>
                <a:latin typeface="Calibri"/>
                <a:ea typeface="+mn-ea"/>
                <a:cs typeface="+mn-cs"/>
              </a:rPr>
              <a:t>Store Support - AGE </a:t>
            </a:r>
          </a:p>
        </p:txBody>
      </p:sp>
      <p:sp>
        <p:nvSpPr>
          <p:cNvPr id="19" name="Rectangle 18">
            <a:extLst>
              <a:ext uri="{FF2B5EF4-FFF2-40B4-BE49-F238E27FC236}">
                <a16:creationId xmlns:a16="http://schemas.microsoft.com/office/drawing/2014/main" id="{7C7C4596-D8B9-8AD4-B4EE-99B9E6B7DD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735" y="4480038"/>
            <a:ext cx="9134528"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70F1BFF1-8CE6-763A-786B-AAB8A8F5AFB1}"/>
              </a:ext>
            </a:extLst>
          </p:cNvPr>
          <p:cNvSpPr txBox="1"/>
          <p:nvPr/>
        </p:nvSpPr>
        <p:spPr>
          <a:xfrm>
            <a:off x="272310" y="1975001"/>
            <a:ext cx="8435953" cy="2081843"/>
          </a:xfrm>
          <a:prstGeom prst="rect">
            <a:avLst/>
          </a:prstGeom>
        </p:spPr>
        <p:txBody>
          <a:bodyPr vert="horz" lIns="91440" tIns="45720" rIns="91440" bIns="45720" rtlCol="0">
            <a:normAutofit/>
          </a:bodyPr>
          <a:lstStyle/>
          <a:p>
            <a:pPr marL="0" marR="0" lvl="0" indent="0" algn="l" defTabSz="914400" rtl="0" eaLnBrk="1" fontAlgn="auto" latinLnBrk="0" hangingPunct="1">
              <a:lnSpc>
                <a:spcPct val="90000"/>
              </a:lnSpc>
              <a:spcBef>
                <a:spcPts val="1000"/>
              </a:spcBef>
              <a:spcAft>
                <a:spcPts val="0"/>
              </a:spcAft>
              <a:buClrTx/>
              <a:buSzTx/>
              <a:buFontTx/>
              <a:buNone/>
              <a:tabLst/>
              <a:defRPr sz="3200">
                <a:solidFill>
                  <a:srgbClr val="FFFFFF"/>
                </a:solidFill>
              </a:defRPr>
            </a:pPr>
            <a:r>
              <a:rPr kumimoji="0" lang="en-US" sz="2400" b="0" i="0" u="none" strike="noStrike" kern="1200" cap="none" spc="0" normalizeH="0" baseline="0" noProof="0" dirty="0">
                <a:ln>
                  <a:noFill/>
                </a:ln>
                <a:solidFill>
                  <a:srgbClr val="FFFFFF"/>
                </a:solidFill>
                <a:effectLst/>
                <a:uLnTx/>
                <a:uFillTx/>
                <a:latin typeface="Calibri"/>
                <a:ea typeface="+mn-ea"/>
                <a:cs typeface="+mn-cs"/>
              </a:rPr>
              <a:t>Reporting Consistency</a:t>
            </a:r>
          </a:p>
          <a:p>
            <a:pPr marL="0" marR="0" lvl="0" indent="0" algn="l" defTabSz="914400" rtl="0" eaLnBrk="1" fontAlgn="auto" latinLnBrk="0" hangingPunct="1">
              <a:lnSpc>
                <a:spcPct val="90000"/>
              </a:lnSpc>
              <a:spcBef>
                <a:spcPts val="1000"/>
              </a:spcBef>
              <a:spcAft>
                <a:spcPts val="0"/>
              </a:spcAft>
              <a:buClrTx/>
              <a:buSzTx/>
              <a:buFontTx/>
              <a:buNone/>
              <a:tabLst/>
              <a:defRPr sz="3200">
                <a:solidFill>
                  <a:srgbClr val="FFFFFF"/>
                </a:solidFill>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a:p>
            <a:pPr marL="0" marR="0" lvl="0" indent="0" algn="l" defTabSz="914400" rtl="0" eaLnBrk="1" fontAlgn="auto" latinLnBrk="0" hangingPunct="1">
              <a:lnSpc>
                <a:spcPct val="90000"/>
              </a:lnSpc>
              <a:spcBef>
                <a:spcPts val="1000"/>
              </a:spcBef>
              <a:spcAft>
                <a:spcPts val="0"/>
              </a:spcAft>
              <a:buClrTx/>
              <a:buSzTx/>
              <a:buFontTx/>
              <a:buNone/>
              <a:tabLst/>
              <a:defRPr sz="3200">
                <a:solidFill>
                  <a:srgbClr val="FFFFFF"/>
                </a:solidFill>
              </a:defRPr>
            </a:pPr>
            <a:r>
              <a:rPr kumimoji="0" lang="en-US" sz="2400" b="0" i="0" u="none" strike="noStrike" kern="1200" cap="none" spc="0" normalizeH="0" baseline="0" noProof="0" dirty="0">
                <a:ln>
                  <a:noFill/>
                </a:ln>
                <a:solidFill>
                  <a:srgbClr val="FFFFFF"/>
                </a:solidFill>
                <a:effectLst/>
                <a:uLnTx/>
                <a:uFillTx/>
                <a:latin typeface="Calibri"/>
                <a:ea typeface="+mn-ea"/>
                <a:cs typeface="+mn-cs"/>
              </a:rPr>
              <a:t>Aligning our reporting to provide consistent Home Office reporting for every area and operational team. </a:t>
            </a:r>
          </a:p>
        </p:txBody>
      </p:sp>
      <p:sp>
        <p:nvSpPr>
          <p:cNvPr id="21" name="Rectangle 20">
            <a:extLst>
              <a:ext uri="{FF2B5EF4-FFF2-40B4-BE49-F238E27FC236}">
                <a16:creationId xmlns:a16="http://schemas.microsoft.com/office/drawing/2014/main" id="{BC0C7799-B3FB-259B-C7AE-D3C0B775C0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368117" y="2081692"/>
            <a:ext cx="6857572" cy="2694194"/>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8" name="Picture 7" descr="A yellow circle with five pointed points&#10;&#10;AI-generated content may be incorrect.">
            <a:extLst>
              <a:ext uri="{FF2B5EF4-FFF2-40B4-BE49-F238E27FC236}">
                <a16:creationId xmlns:a16="http://schemas.microsoft.com/office/drawing/2014/main" id="{0E2344AD-CE8C-1BCA-6759-4BFBCDD5BE9B}"/>
              </a:ext>
            </a:extLst>
          </p:cNvPr>
          <p:cNvPicPr>
            <a:picLocks noChangeAspect="1"/>
          </p:cNvPicPr>
          <p:nvPr/>
        </p:nvPicPr>
        <p:blipFill>
          <a:blip r:embed="rId3"/>
          <a:stretch>
            <a:fillRect/>
          </a:stretch>
        </p:blipFill>
        <p:spPr>
          <a:xfrm>
            <a:off x="5559778" y="-159643"/>
            <a:ext cx="1789524" cy="1789524"/>
          </a:xfrm>
          <a:prstGeom prst="rect">
            <a:avLst/>
          </a:prstGeom>
        </p:spPr>
      </p:pic>
    </p:spTree>
    <p:extLst>
      <p:ext uri="{BB962C8B-B14F-4D97-AF65-F5344CB8AC3E}">
        <p14:creationId xmlns:p14="http://schemas.microsoft.com/office/powerpoint/2010/main" val="1327648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68D7EC-AD82-5CD0-F484-C3FC9833852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EB676A-F6EF-8F46-D57C-854C9F756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1B60E70D-3D86-3D4C-7F44-90252F171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9144000"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6FB88CD6-E090-068C-D012-7A47B059C2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41640" y="-1720"/>
            <a:ext cx="881253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D2D91269-8D62-EAC6-8AE8-AE210132A9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4540" y="-1291"/>
            <a:ext cx="2706134"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a:extLst>
              <a:ext uri="{FF2B5EF4-FFF2-40B4-BE49-F238E27FC236}">
                <a16:creationId xmlns:a16="http://schemas.microsoft.com/office/drawing/2014/main" id="{97F835E7-8F68-67DD-47B0-4C2504FD90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3923854" y="1402819"/>
            <a:ext cx="4967533" cy="3741293"/>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 name="TextBox 1">
            <a:extLst>
              <a:ext uri="{FF2B5EF4-FFF2-40B4-BE49-F238E27FC236}">
                <a16:creationId xmlns:a16="http://schemas.microsoft.com/office/drawing/2014/main" id="{2150116E-C631-F57F-3CC7-7ED915ADC146}"/>
              </a:ext>
            </a:extLst>
          </p:cNvPr>
          <p:cNvSpPr txBox="1"/>
          <p:nvPr/>
        </p:nvSpPr>
        <p:spPr>
          <a:xfrm>
            <a:off x="753679" y="496447"/>
            <a:ext cx="4947184" cy="653092"/>
          </a:xfrm>
          <a:prstGeom prst="rect">
            <a:avLst/>
          </a:prstGeom>
        </p:spPr>
        <p:txBody>
          <a:bodyPr vert="horz" lIns="91440" tIns="45720" rIns="91440" bIns="45720" rtlCol="0" anchor="b">
            <a:normAutofit lnSpcReduction="10000"/>
          </a:bodyPr>
          <a:lstStyle/>
          <a:p>
            <a:pPr marL="0" marR="0" lvl="0" indent="0" algn="r" defTabSz="914400" rtl="0" eaLnBrk="1" fontAlgn="auto" latinLnBrk="0" hangingPunct="1">
              <a:lnSpc>
                <a:spcPct val="90000"/>
              </a:lnSpc>
              <a:spcBef>
                <a:spcPct val="0"/>
              </a:spcBef>
              <a:spcAft>
                <a:spcPts val="600"/>
              </a:spcAft>
              <a:buClrTx/>
              <a:buSzTx/>
              <a:buFontTx/>
              <a:buNone/>
              <a:tabLst/>
              <a:defRPr sz="5400" b="1">
                <a:solidFill>
                  <a:srgbClr val="FFFFFF"/>
                </a:solidFill>
              </a:defRPr>
            </a:pPr>
            <a:r>
              <a:rPr kumimoji="0" lang="en-US" sz="4200" b="1" i="0" u="none" strike="noStrike" kern="1200" cap="none" spc="0" normalizeH="0" baseline="0" noProof="0" dirty="0">
                <a:ln>
                  <a:noFill/>
                </a:ln>
                <a:solidFill>
                  <a:srgbClr val="FFFFFF"/>
                </a:solidFill>
                <a:effectLst/>
                <a:uLnTx/>
                <a:uFillTx/>
                <a:latin typeface="Calibri"/>
                <a:ea typeface="+mn-ea"/>
                <a:cs typeface="+mn-cs"/>
              </a:rPr>
              <a:t>Store Support - AGE </a:t>
            </a:r>
          </a:p>
        </p:txBody>
      </p:sp>
      <p:sp>
        <p:nvSpPr>
          <p:cNvPr id="19" name="Rectangle 18">
            <a:extLst>
              <a:ext uri="{FF2B5EF4-FFF2-40B4-BE49-F238E27FC236}">
                <a16:creationId xmlns:a16="http://schemas.microsoft.com/office/drawing/2014/main" id="{270C0F96-006B-CD09-B821-E38A393707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735" y="4480038"/>
            <a:ext cx="9134528"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2CBEA138-2A40-B357-9F2A-C1B894E1CB14}"/>
              </a:ext>
            </a:extLst>
          </p:cNvPr>
          <p:cNvSpPr txBox="1"/>
          <p:nvPr/>
        </p:nvSpPr>
        <p:spPr>
          <a:xfrm>
            <a:off x="272310" y="1975001"/>
            <a:ext cx="8435953" cy="2505037"/>
          </a:xfrm>
          <a:prstGeom prst="rect">
            <a:avLst/>
          </a:prstGeom>
        </p:spPr>
        <p:txBody>
          <a:bodyPr vert="horz" lIns="91440" tIns="45720" rIns="91440" bIns="45720" rtlCol="0">
            <a:normAutofit/>
          </a:bodyPr>
          <a:lstStyle/>
          <a:p>
            <a:pPr marL="0" marR="0" lvl="0" indent="0" algn="l" defTabSz="914400" rtl="0" eaLnBrk="1" fontAlgn="auto" latinLnBrk="0" hangingPunct="1">
              <a:lnSpc>
                <a:spcPct val="90000"/>
              </a:lnSpc>
              <a:spcBef>
                <a:spcPts val="1000"/>
              </a:spcBef>
              <a:spcAft>
                <a:spcPts val="0"/>
              </a:spcAft>
              <a:buClrTx/>
              <a:buSzTx/>
              <a:buFontTx/>
              <a:buNone/>
              <a:tabLst/>
              <a:defRPr sz="3200">
                <a:solidFill>
                  <a:srgbClr val="FFFFFF"/>
                </a:solidFill>
              </a:defRPr>
            </a:pPr>
            <a:r>
              <a:rPr kumimoji="0" lang="en-US" sz="2400" b="0" i="0" u="none" strike="noStrike" kern="1200" cap="none" spc="0" normalizeH="0" baseline="0" noProof="0" dirty="0">
                <a:ln>
                  <a:noFill/>
                </a:ln>
                <a:solidFill>
                  <a:srgbClr val="FFFFFF"/>
                </a:solidFill>
                <a:effectLst/>
                <a:uLnTx/>
                <a:uFillTx/>
                <a:latin typeface="Calibri"/>
                <a:ea typeface="+mn-ea"/>
                <a:cs typeface="+mn-cs"/>
              </a:rPr>
              <a:t>Project &amp; Work Management = Activity Hub Platform</a:t>
            </a:r>
          </a:p>
          <a:p>
            <a:pPr marL="0" marR="0" lvl="0" indent="0" algn="l" defTabSz="914400" rtl="0" eaLnBrk="1" fontAlgn="auto" latinLnBrk="0" hangingPunct="1">
              <a:lnSpc>
                <a:spcPct val="90000"/>
              </a:lnSpc>
              <a:spcBef>
                <a:spcPts val="1000"/>
              </a:spcBef>
              <a:spcAft>
                <a:spcPts val="0"/>
              </a:spcAft>
              <a:buClrTx/>
              <a:buSzTx/>
              <a:buFontTx/>
              <a:buNone/>
              <a:tabLst/>
              <a:defRPr sz="3200">
                <a:solidFill>
                  <a:srgbClr val="FFFFFF"/>
                </a:solidFill>
              </a:defRPr>
            </a:pPr>
            <a:endParaRPr kumimoji="0" lang="en-US" sz="2400" b="0" i="0" u="none" strike="noStrike" kern="1200" cap="none" spc="0" normalizeH="0" baseline="0" noProof="0" dirty="0">
              <a:ln>
                <a:noFill/>
              </a:ln>
              <a:solidFill>
                <a:srgbClr val="FFFFFF"/>
              </a:solidFill>
              <a:effectLst/>
              <a:uLnTx/>
              <a:uFillTx/>
              <a:latin typeface="Calibri"/>
              <a:ea typeface="+mn-ea"/>
              <a:cs typeface="+mn-cs"/>
            </a:endParaRPr>
          </a:p>
          <a:p>
            <a:pPr marL="0" marR="0" lvl="0" indent="0" algn="l" defTabSz="914400" rtl="0" eaLnBrk="1" fontAlgn="auto" latinLnBrk="0" hangingPunct="1">
              <a:lnSpc>
                <a:spcPct val="90000"/>
              </a:lnSpc>
              <a:spcBef>
                <a:spcPts val="1000"/>
              </a:spcBef>
              <a:spcAft>
                <a:spcPts val="0"/>
              </a:spcAft>
              <a:buClrTx/>
              <a:buSzTx/>
              <a:buFontTx/>
              <a:buNone/>
              <a:tabLst/>
              <a:defRPr sz="3200">
                <a:solidFill>
                  <a:srgbClr val="FFFFFF"/>
                </a:solidFill>
              </a:defRPr>
            </a:pPr>
            <a:r>
              <a:rPr kumimoji="0" lang="en-US" sz="2400" b="0" i="0" u="none" strike="noStrike" kern="1200" cap="none" spc="0" normalizeH="0" baseline="0" noProof="0" dirty="0">
                <a:ln>
                  <a:noFill/>
                </a:ln>
                <a:solidFill>
                  <a:srgbClr val="FFFFFF"/>
                </a:solidFill>
                <a:effectLst/>
                <a:uLnTx/>
                <a:uFillTx/>
                <a:latin typeface="Calibri"/>
                <a:ea typeface="+mn-ea"/>
                <a:cs typeface="+mn-cs"/>
              </a:rPr>
              <a:t>Aligning our projects and the work related to those projects into one place, regardless of the platform they are being worked. This will help provide one source of truth, while not hindering teams' ways of working. </a:t>
            </a:r>
          </a:p>
        </p:txBody>
      </p:sp>
      <p:sp>
        <p:nvSpPr>
          <p:cNvPr id="21" name="Rectangle 20">
            <a:extLst>
              <a:ext uri="{FF2B5EF4-FFF2-40B4-BE49-F238E27FC236}">
                <a16:creationId xmlns:a16="http://schemas.microsoft.com/office/drawing/2014/main" id="{C8B82035-0112-C717-0DBA-03E42E5920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368117" y="2081692"/>
            <a:ext cx="6857572" cy="2694194"/>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8" name="Picture 7" descr="A yellow circle with five pointed points&#10;&#10;AI-generated content may be incorrect.">
            <a:extLst>
              <a:ext uri="{FF2B5EF4-FFF2-40B4-BE49-F238E27FC236}">
                <a16:creationId xmlns:a16="http://schemas.microsoft.com/office/drawing/2014/main" id="{BF3DBE7D-91D7-E011-D092-6F985260A872}"/>
              </a:ext>
            </a:extLst>
          </p:cNvPr>
          <p:cNvPicPr>
            <a:picLocks noChangeAspect="1"/>
          </p:cNvPicPr>
          <p:nvPr/>
        </p:nvPicPr>
        <p:blipFill>
          <a:blip r:embed="rId3"/>
          <a:stretch>
            <a:fillRect/>
          </a:stretch>
        </p:blipFill>
        <p:spPr>
          <a:xfrm>
            <a:off x="5559778" y="-159643"/>
            <a:ext cx="1789524" cy="1789524"/>
          </a:xfrm>
          <a:prstGeom prst="rect">
            <a:avLst/>
          </a:prstGeom>
        </p:spPr>
      </p:pic>
    </p:spTree>
    <p:extLst>
      <p:ext uri="{BB962C8B-B14F-4D97-AF65-F5344CB8AC3E}">
        <p14:creationId xmlns:p14="http://schemas.microsoft.com/office/powerpoint/2010/main" val="3344114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9144000"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41640" y="-1720"/>
            <a:ext cx="881253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4540" y="-1291"/>
            <a:ext cx="2706134"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3923854" y="1402819"/>
            <a:ext cx="4967533" cy="3741293"/>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 name="TextBox 1"/>
          <p:cNvSpPr txBox="1"/>
          <p:nvPr/>
        </p:nvSpPr>
        <p:spPr>
          <a:xfrm>
            <a:off x="1091664" y="818984"/>
            <a:ext cx="4947184" cy="2254774"/>
          </a:xfrm>
          <a:prstGeom prst="rect">
            <a:avLst/>
          </a:prstGeom>
        </p:spPr>
        <p:txBody>
          <a:bodyPr vert="horz" lIns="91440" tIns="45720" rIns="91440" bIns="45720" rtlCol="0" anchor="b">
            <a:normAutofit/>
          </a:bodyPr>
          <a:lstStyle/>
          <a:p>
            <a:pPr marL="0" marR="0" lvl="0" indent="0" algn="r" defTabSz="914400" rtl="0" eaLnBrk="1" fontAlgn="auto" latinLnBrk="0" hangingPunct="1">
              <a:lnSpc>
                <a:spcPct val="90000"/>
              </a:lnSpc>
              <a:spcBef>
                <a:spcPct val="0"/>
              </a:spcBef>
              <a:spcAft>
                <a:spcPts val="600"/>
              </a:spcAft>
              <a:buClrTx/>
              <a:buSzTx/>
              <a:buFontTx/>
              <a:buNone/>
              <a:tabLst/>
              <a:defRPr sz="5400" b="1">
                <a:solidFill>
                  <a:srgbClr val="FFFFFF"/>
                </a:solidFill>
              </a:defRPr>
            </a:pPr>
            <a:r>
              <a:rPr kumimoji="0" lang="en-US" sz="4200" b="1" i="0" u="none" strike="noStrike" kern="1200" cap="none" spc="0" normalizeH="0" baseline="0" noProof="0" dirty="0">
                <a:ln>
                  <a:noFill/>
                </a:ln>
                <a:solidFill>
                  <a:srgbClr val="FFFFFF"/>
                </a:solidFill>
                <a:effectLst/>
                <a:uLnTx/>
                <a:uFillTx/>
                <a:latin typeface="Calibri"/>
                <a:ea typeface="+mn-ea"/>
                <a:cs typeface="+mn-cs"/>
              </a:rPr>
              <a:t>Store Support </a:t>
            </a:r>
          </a:p>
          <a:p>
            <a:pPr marL="0" marR="0" lvl="0" indent="0" algn="r" defTabSz="914400" rtl="0" eaLnBrk="1" fontAlgn="auto" latinLnBrk="0" hangingPunct="1">
              <a:lnSpc>
                <a:spcPct val="90000"/>
              </a:lnSpc>
              <a:spcBef>
                <a:spcPct val="0"/>
              </a:spcBef>
              <a:spcAft>
                <a:spcPts val="600"/>
              </a:spcAft>
              <a:buClrTx/>
              <a:buSzTx/>
              <a:buFontTx/>
              <a:buNone/>
              <a:tabLst/>
              <a:defRPr sz="5400" b="1">
                <a:solidFill>
                  <a:srgbClr val="FFFFFF"/>
                </a:solidFill>
              </a:defRPr>
            </a:pPr>
            <a:r>
              <a:rPr kumimoji="0" lang="en-US" sz="4200" b="1" i="0" u="none" strike="noStrike" kern="1200" cap="none" spc="0" normalizeH="0" baseline="0" noProof="0" dirty="0">
                <a:ln>
                  <a:noFill/>
                </a:ln>
                <a:solidFill>
                  <a:srgbClr val="FFFFFF"/>
                </a:solidFill>
                <a:effectLst/>
                <a:uLnTx/>
                <a:uFillTx/>
                <a:latin typeface="Calibri"/>
                <a:ea typeface="+mn-ea"/>
                <a:cs typeface="+mn-cs"/>
              </a:rPr>
              <a:t>Path to Production</a:t>
            </a:r>
          </a:p>
        </p:txBody>
      </p:sp>
      <p:sp>
        <p:nvSpPr>
          <p:cNvPr id="19" name="Rectangle 18">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735" y="4480038"/>
            <a:ext cx="9134528"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1448905" y="3869900"/>
            <a:ext cx="4538427" cy="1241828"/>
          </a:xfrm>
          <a:prstGeom prst="rect">
            <a:avLst/>
          </a:prstGeom>
        </p:spPr>
        <p:txBody>
          <a:bodyPr vert="horz" lIns="91440" tIns="45720" rIns="91440" bIns="45720" rtlCol="0">
            <a:normAutofit/>
          </a:bodyPr>
          <a:lstStyle/>
          <a:p>
            <a:pPr marL="0" marR="0" lvl="0" indent="0" algn="r" defTabSz="914400" rtl="0" eaLnBrk="1" fontAlgn="auto" latinLnBrk="0" hangingPunct="1">
              <a:lnSpc>
                <a:spcPct val="90000"/>
              </a:lnSpc>
              <a:spcBef>
                <a:spcPts val="1000"/>
              </a:spcBef>
              <a:spcAft>
                <a:spcPts val="0"/>
              </a:spcAft>
              <a:buClrTx/>
              <a:buSzTx/>
              <a:buFontTx/>
              <a:buNone/>
              <a:tabLst/>
              <a:defRPr sz="3200">
                <a:solidFill>
                  <a:srgbClr val="FFFFFF"/>
                </a:solidFill>
              </a:defRPr>
            </a:pPr>
            <a:r>
              <a:rPr kumimoji="0" lang="en-US" sz="2400" b="0" i="0" u="none" strike="noStrike" kern="1200" cap="none" spc="0" normalizeH="0" baseline="0" noProof="0" dirty="0">
                <a:ln>
                  <a:noFill/>
                </a:ln>
                <a:solidFill>
                  <a:srgbClr val="FFFFFF"/>
                </a:solidFill>
                <a:effectLst/>
                <a:uLnTx/>
                <a:uFillTx/>
                <a:latin typeface="Calibri"/>
                <a:ea typeface="+mn-ea"/>
                <a:cs typeface="+mn-cs"/>
              </a:rPr>
              <a:t>Path to Production Infrastructure + Activity Hub Platform</a:t>
            </a:r>
          </a:p>
        </p:txBody>
      </p:sp>
      <p:sp>
        <p:nvSpPr>
          <p:cNvPr id="21" name="Rectangle 20">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368117" y="2081692"/>
            <a:ext cx="6857572" cy="2694194"/>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497808" y="4559112"/>
            <a:ext cx="8148384" cy="461665"/>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600"/>
              </a:spcAft>
              <a:buClrTx/>
              <a:buSzTx/>
              <a:buFontTx/>
              <a:buNone/>
              <a:tabLst/>
              <a:defRPr sz="2400" b="1">
                <a:solidFill>
                  <a:srgbClr val="FFC220"/>
                </a:solidFill>
              </a:defRPr>
            </a:pPr>
            <a:r>
              <a:rPr kumimoji="0" lang="en-US" sz="2400" b="1" i="0" u="none" strike="noStrike" kern="1200" cap="none" spc="0" normalizeH="0" baseline="0" noProof="0" dirty="0">
                <a:ln>
                  <a:noFill/>
                </a:ln>
                <a:solidFill>
                  <a:srgbClr val="FFC220"/>
                </a:solidFill>
                <a:effectLst/>
                <a:uLnTx/>
                <a:uFillTx/>
                <a:latin typeface="Calibri"/>
                <a:ea typeface="+mn-ea"/>
                <a:cs typeface="+mn-cs"/>
              </a:rPr>
              <a:t>Investment: $636.7K Investment | $25.6M Value | 5,420% ROI</a:t>
            </a:r>
          </a:p>
        </p:txBody>
      </p:sp>
      <p:sp>
        <p:nvSpPr>
          <p:cNvPr id="6" name="TextBox 5">
            <a:extLst>
              <a:ext uri="{FF2B5EF4-FFF2-40B4-BE49-F238E27FC236}">
                <a16:creationId xmlns:a16="http://schemas.microsoft.com/office/drawing/2014/main" id="{43312BAD-A1CE-C30A-4300-C990A832B38F}"/>
              </a:ext>
            </a:extLst>
          </p:cNvPr>
          <p:cNvSpPr txBox="1"/>
          <p:nvPr/>
        </p:nvSpPr>
        <p:spPr>
          <a:xfrm>
            <a:off x="2032715" y="6318486"/>
            <a:ext cx="4580586" cy="400110"/>
          </a:xfrm>
          <a:prstGeom prst="rect">
            <a:avLst/>
          </a:prstGeom>
          <a:noFill/>
        </p:spPr>
        <p:txBody>
          <a:bodyPr wrap="square">
            <a:spAutoFit/>
          </a:bodyPr>
          <a:lstStyle/>
          <a:p>
            <a:pPr algn="ctr">
              <a:defRPr sz="3200">
                <a:solidFill>
                  <a:srgbClr val="FFFFFF"/>
                </a:solidFill>
              </a:defRPr>
            </a:pPr>
            <a:r>
              <a:rPr lang="en-US" sz="2000" i="1" dirty="0"/>
              <a:t>Executive Brief</a:t>
            </a:r>
          </a:p>
        </p:txBody>
      </p:sp>
      <p:pic>
        <p:nvPicPr>
          <p:cNvPr id="8" name="Picture 7" descr="A yellow circle with five pointed points&#10;&#10;AI-generated content may be incorrect.">
            <a:extLst>
              <a:ext uri="{FF2B5EF4-FFF2-40B4-BE49-F238E27FC236}">
                <a16:creationId xmlns:a16="http://schemas.microsoft.com/office/drawing/2014/main" id="{C4F1DDCF-AB15-EF03-3EE0-8E4122EEA17E}"/>
              </a:ext>
            </a:extLst>
          </p:cNvPr>
          <p:cNvPicPr>
            <a:picLocks noChangeAspect="1"/>
          </p:cNvPicPr>
          <p:nvPr/>
        </p:nvPicPr>
        <p:blipFill>
          <a:blip r:embed="rId3"/>
          <a:stretch>
            <a:fillRect/>
          </a:stretch>
        </p:blipFill>
        <p:spPr>
          <a:xfrm>
            <a:off x="5718539" y="1490683"/>
            <a:ext cx="1789524" cy="178952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72794C-F030-B707-A4F8-05EF3D68A49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12A4C16-6084-C145-5F68-DCFD70B55C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40B49A08-BDA9-804A-7539-00B7F4B6F3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9144000"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5D6A05C3-BAF5-CD11-86B8-BE2752A24D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41640" y="-1720"/>
            <a:ext cx="881253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0D7CF7EF-1253-1BC2-2272-3BFC6CEB74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4540" y="-1291"/>
            <a:ext cx="2706134"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a:extLst>
              <a:ext uri="{FF2B5EF4-FFF2-40B4-BE49-F238E27FC236}">
                <a16:creationId xmlns:a16="http://schemas.microsoft.com/office/drawing/2014/main" id="{A2844AF3-5C54-20D2-EADB-4EAF1C66F7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3923854" y="1402819"/>
            <a:ext cx="4967533" cy="3741293"/>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9" name="Rectangle 18">
            <a:extLst>
              <a:ext uri="{FF2B5EF4-FFF2-40B4-BE49-F238E27FC236}">
                <a16:creationId xmlns:a16="http://schemas.microsoft.com/office/drawing/2014/main" id="{B7193C01-EDF3-7259-AFB9-C0EA9C136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735" y="4480038"/>
            <a:ext cx="9134528"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E20F47F8-EC8D-1F28-5F44-42A52EB90C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368117" y="2081692"/>
            <a:ext cx="6857572" cy="2694194"/>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8" name="Picture 7" descr="A yellow circle with five pointed points&#10;&#10;AI-generated content may be incorrect.">
            <a:extLst>
              <a:ext uri="{FF2B5EF4-FFF2-40B4-BE49-F238E27FC236}">
                <a16:creationId xmlns:a16="http://schemas.microsoft.com/office/drawing/2014/main" id="{2DCB4CCD-A151-2C9B-CC3E-DC746A2E2A6E}"/>
              </a:ext>
            </a:extLst>
          </p:cNvPr>
          <p:cNvPicPr>
            <a:picLocks noChangeAspect="1"/>
          </p:cNvPicPr>
          <p:nvPr/>
        </p:nvPicPr>
        <p:blipFill>
          <a:blip r:embed="rId3"/>
          <a:stretch>
            <a:fillRect/>
          </a:stretch>
        </p:blipFill>
        <p:spPr>
          <a:xfrm>
            <a:off x="7609212" y="-253513"/>
            <a:ext cx="1789524" cy="1789524"/>
          </a:xfrm>
          <a:prstGeom prst="rect">
            <a:avLst/>
          </a:prstGeom>
        </p:spPr>
      </p:pic>
      <p:pic>
        <p:nvPicPr>
          <p:cNvPr id="12" name="Picture 11">
            <a:extLst>
              <a:ext uri="{FF2B5EF4-FFF2-40B4-BE49-F238E27FC236}">
                <a16:creationId xmlns:a16="http://schemas.microsoft.com/office/drawing/2014/main" id="{15B76996-1B3C-7299-C247-39CDEF1339FD}"/>
              </a:ext>
            </a:extLst>
          </p:cNvPr>
          <p:cNvPicPr>
            <a:picLocks noChangeAspect="1"/>
          </p:cNvPicPr>
          <p:nvPr/>
        </p:nvPicPr>
        <p:blipFill>
          <a:blip r:embed="rId4"/>
          <a:stretch>
            <a:fillRect/>
          </a:stretch>
        </p:blipFill>
        <p:spPr>
          <a:xfrm>
            <a:off x="1455312" y="1286572"/>
            <a:ext cx="6054681" cy="4631271"/>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7" name="TextBox 6">
            <a:extLst>
              <a:ext uri="{FF2B5EF4-FFF2-40B4-BE49-F238E27FC236}">
                <a16:creationId xmlns:a16="http://schemas.microsoft.com/office/drawing/2014/main" id="{D95A29A8-030B-5F75-A25A-C9DD2779964E}"/>
              </a:ext>
            </a:extLst>
          </p:cNvPr>
          <p:cNvSpPr txBox="1"/>
          <p:nvPr/>
        </p:nvSpPr>
        <p:spPr>
          <a:xfrm>
            <a:off x="782392" y="615422"/>
            <a:ext cx="4698642" cy="369332"/>
          </a:xfrm>
          <a:prstGeom prst="rect">
            <a:avLst/>
          </a:prstGeom>
          <a:noFill/>
        </p:spPr>
        <p:txBody>
          <a:bodyPr wrap="square">
            <a:spAutoFit/>
          </a:bodyPr>
          <a:lstStyle/>
          <a:p>
            <a:r>
              <a:rPr kumimoji="0" lang="en-US" sz="1800" b="0" i="0" u="none" strike="noStrike" kern="1200" cap="none" spc="0" normalizeH="0" baseline="0" noProof="0" dirty="0">
                <a:ln>
                  <a:noFill/>
                </a:ln>
                <a:solidFill>
                  <a:srgbClr val="FFFFFF"/>
                </a:solidFill>
                <a:effectLst/>
                <a:uLnTx/>
                <a:uFillTx/>
                <a:latin typeface="Calibri"/>
                <a:ea typeface="+mn-ea"/>
                <a:cs typeface="+mn-cs"/>
              </a:rPr>
              <a:t>Activity Hub Platform</a:t>
            </a:r>
            <a:endParaRPr lang="en-US" dirty="0"/>
          </a:p>
        </p:txBody>
      </p:sp>
    </p:spTree>
    <p:extLst>
      <p:ext uri="{BB962C8B-B14F-4D97-AF65-F5344CB8AC3E}">
        <p14:creationId xmlns:p14="http://schemas.microsoft.com/office/powerpoint/2010/main" val="1547776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 name="TextBox 1"/>
          <p:cNvSpPr txBox="1"/>
          <p:nvPr/>
        </p:nvSpPr>
        <p:spPr>
          <a:xfrm>
            <a:off x="1037673" y="348865"/>
            <a:ext cx="7288583" cy="1576446"/>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600"/>
              </a:spcAft>
              <a:buClrTx/>
              <a:buSzTx/>
              <a:buFontTx/>
              <a:buNone/>
              <a:tabLst/>
              <a:defRPr sz="4000" b="1">
                <a:solidFill>
                  <a:srgbClr val="0071CE"/>
                </a:solidFill>
              </a:defRPr>
            </a:pPr>
            <a:r>
              <a:rPr kumimoji="0" lang="en-US" sz="3500" b="1" i="0" u="none" strike="noStrike" kern="1200" cap="none" spc="0" normalizeH="0" baseline="0" noProof="0" dirty="0">
                <a:ln>
                  <a:noFill/>
                </a:ln>
                <a:solidFill>
                  <a:srgbClr val="FFFFFF"/>
                </a:solidFill>
                <a:effectLst/>
                <a:uLnTx/>
                <a:uFillTx/>
                <a:latin typeface="Calibri"/>
                <a:ea typeface="+mn-ea"/>
                <a:cs typeface="+mn-cs"/>
              </a:rPr>
              <a:t>The Two-Part Ask</a:t>
            </a:r>
          </a:p>
        </p:txBody>
      </p:sp>
      <p:sp>
        <p:nvSpPr>
          <p:cNvPr id="6" name="TextBox 5">
            <a:extLst>
              <a:ext uri="{FF2B5EF4-FFF2-40B4-BE49-F238E27FC236}">
                <a16:creationId xmlns:a16="http://schemas.microsoft.com/office/drawing/2014/main" id="{E33A9815-1959-5040-BD02-BD03E7FC5AA1}"/>
              </a:ext>
            </a:extLst>
          </p:cNvPr>
          <p:cNvSpPr txBox="1"/>
          <p:nvPr/>
        </p:nvSpPr>
        <p:spPr>
          <a:xfrm>
            <a:off x="457200" y="2400689"/>
            <a:ext cx="4114800" cy="2286000"/>
          </a:xfrm>
          <a:prstGeom prst="rect">
            <a:avLst/>
          </a:prstGeom>
          <a:solidFill>
            <a:srgbClr val="F0F8FF"/>
          </a:solidFill>
        </p:spPr>
        <p:txBody>
          <a:bodyPr wrap="none">
            <a:spAutoFit/>
          </a:bodyPr>
          <a:lstStyle/>
          <a:p>
            <a:pPr>
              <a:defRPr sz="2200" b="1">
                <a:solidFill>
                  <a:srgbClr val="0071CE"/>
                </a:solidFill>
              </a:defRPr>
            </a:pPr>
            <a:r>
              <a:t>PART 1: Path to Production</a:t>
            </a:r>
          </a:p>
          <a:p>
            <a:pPr>
              <a:defRPr sz="1600" b="0">
                <a:solidFill>
                  <a:srgbClr val="323232"/>
                </a:solidFill>
              </a:defRPr>
            </a:pPr>
            <a:r>
              <a:t>🏗️ Production infrastructure</a:t>
            </a:r>
          </a:p>
          <a:p>
            <a:pPr>
              <a:defRPr sz="1600" b="0">
                <a:solidFill>
                  <a:srgbClr val="323232"/>
                </a:solidFill>
              </a:defRPr>
            </a:pPr>
            <a:r>
              <a:t>🔒 Security &amp; compliance</a:t>
            </a:r>
          </a:p>
          <a:p>
            <a:pPr>
              <a:defRPr sz="1600" b="0">
                <a:solidFill>
                  <a:srgbClr val="323232"/>
                </a:solidFill>
              </a:defRPr>
            </a:pPr>
            <a:r>
              <a:t>⚙️ CI/CD pipeline</a:t>
            </a:r>
          </a:p>
          <a:p>
            <a:pPr>
              <a:defRPr sz="1600" b="0">
                <a:solidFill>
                  <a:srgbClr val="323232"/>
                </a:solidFill>
              </a:defRPr>
            </a:pPr>
            <a:r>
              <a:t>📊 Support framework</a:t>
            </a:r>
          </a:p>
          <a:p>
            <a:pPr>
              <a:defRPr sz="1600" b="0">
                <a:solidFill>
                  <a:srgbClr val="323232"/>
                </a:solidFill>
              </a:defRPr>
            </a:pPr>
            <a:endParaRPr/>
          </a:p>
          <a:p>
            <a:pPr>
              <a:defRPr sz="1800" b="1">
                <a:solidFill>
                  <a:srgbClr val="0071CE"/>
                </a:solidFill>
              </a:defRPr>
            </a:pPr>
            <a:r>
              <a:t>$409K (3 years)</a:t>
            </a:r>
          </a:p>
          <a:p>
            <a:pPr>
              <a:defRPr sz="1600" b="1">
                <a:solidFill>
                  <a:srgbClr val="323232"/>
                </a:solidFill>
              </a:defRPr>
            </a:pPr>
            <a:r>
              <a:t>Enables ANY product</a:t>
            </a:r>
          </a:p>
        </p:txBody>
      </p:sp>
      <p:sp>
        <p:nvSpPr>
          <p:cNvPr id="8" name="TextBox 7">
            <a:extLst>
              <a:ext uri="{FF2B5EF4-FFF2-40B4-BE49-F238E27FC236}">
                <a16:creationId xmlns:a16="http://schemas.microsoft.com/office/drawing/2014/main" id="{99541987-CB5A-51C5-B51F-B2C76A15DE16}"/>
              </a:ext>
            </a:extLst>
          </p:cNvPr>
          <p:cNvSpPr txBox="1"/>
          <p:nvPr/>
        </p:nvSpPr>
        <p:spPr>
          <a:xfrm>
            <a:off x="5029200" y="2400689"/>
            <a:ext cx="3562001" cy="2185214"/>
          </a:xfrm>
          <a:prstGeom prst="rect">
            <a:avLst/>
          </a:prstGeom>
          <a:solidFill>
            <a:srgbClr val="F0FFF0"/>
          </a:solidFill>
        </p:spPr>
        <p:txBody>
          <a:bodyPr wrap="none">
            <a:spAutoFit/>
          </a:bodyPr>
          <a:lstStyle/>
          <a:p>
            <a:pPr>
              <a:defRPr sz="2200" b="1">
                <a:solidFill>
                  <a:srgbClr val="009600"/>
                </a:solidFill>
              </a:defRPr>
            </a:pPr>
            <a:r>
              <a:rPr dirty="0"/>
              <a:t>PART 2: Activity Hub</a:t>
            </a:r>
          </a:p>
          <a:p>
            <a:pPr>
              <a:defRPr sz="1600" b="0">
                <a:solidFill>
                  <a:srgbClr val="323232"/>
                </a:solidFill>
              </a:defRPr>
            </a:pPr>
            <a:r>
              <a:rPr dirty="0"/>
              <a:t>🎯 </a:t>
            </a:r>
            <a:r>
              <a:rPr lang="en-US" dirty="0"/>
              <a:t>Flagship c</a:t>
            </a:r>
            <a:r>
              <a:rPr dirty="0"/>
              <a:t>entral integration platform</a:t>
            </a:r>
          </a:p>
          <a:p>
            <a:pPr>
              <a:defRPr sz="1600" b="0">
                <a:solidFill>
                  <a:srgbClr val="323232"/>
                </a:solidFill>
              </a:defRPr>
            </a:pPr>
            <a:r>
              <a:rPr dirty="0"/>
              <a:t>🔗 Unifies 16 tools</a:t>
            </a:r>
          </a:p>
          <a:p>
            <a:pPr>
              <a:defRPr sz="1600" b="0">
                <a:solidFill>
                  <a:srgbClr val="323232"/>
                </a:solidFill>
              </a:defRPr>
            </a:pPr>
            <a:r>
              <a:rPr dirty="0"/>
              <a:t>📈 Real-time visibility</a:t>
            </a:r>
          </a:p>
          <a:p>
            <a:pPr>
              <a:defRPr sz="1600" b="0">
                <a:solidFill>
                  <a:srgbClr val="323232"/>
                </a:solidFill>
              </a:defRPr>
            </a:pPr>
            <a:r>
              <a:rPr dirty="0"/>
              <a:t>⚡ Automated workflows</a:t>
            </a:r>
          </a:p>
          <a:p>
            <a:pPr>
              <a:defRPr sz="1600" b="0">
                <a:solidFill>
                  <a:srgbClr val="323232"/>
                </a:solidFill>
              </a:defRPr>
            </a:pPr>
            <a:endParaRPr dirty="0"/>
          </a:p>
          <a:p>
            <a:pPr>
              <a:defRPr sz="1800" b="1">
                <a:solidFill>
                  <a:srgbClr val="009600"/>
                </a:solidFill>
              </a:defRPr>
            </a:pPr>
            <a:r>
              <a:rPr dirty="0"/>
              <a:t>$</a:t>
            </a:r>
            <a:r>
              <a:rPr lang="en-US" dirty="0"/>
              <a:t>228</a:t>
            </a:r>
            <a:r>
              <a:rPr dirty="0"/>
              <a:t>K (one-time)</a:t>
            </a:r>
          </a:p>
          <a:p>
            <a:pPr>
              <a:defRPr sz="1600" b="1">
                <a:solidFill>
                  <a:srgbClr val="323232"/>
                </a:solidFill>
              </a:defRPr>
            </a:pPr>
            <a:r>
              <a:rPr dirty="0"/>
              <a:t>Immediate ROI proof</a:t>
            </a:r>
          </a:p>
        </p:txBody>
      </p:sp>
      <p:sp>
        <p:nvSpPr>
          <p:cNvPr id="13" name="TextBox 12">
            <a:extLst>
              <a:ext uri="{FF2B5EF4-FFF2-40B4-BE49-F238E27FC236}">
                <a16:creationId xmlns:a16="http://schemas.microsoft.com/office/drawing/2014/main" id="{BC5245DB-62A2-0427-95DE-EF21505B1441}"/>
              </a:ext>
            </a:extLst>
          </p:cNvPr>
          <p:cNvSpPr txBox="1"/>
          <p:nvPr/>
        </p:nvSpPr>
        <p:spPr>
          <a:xfrm>
            <a:off x="457200" y="4869569"/>
            <a:ext cx="5896166" cy="1615827"/>
          </a:xfrm>
          <a:prstGeom prst="rect">
            <a:avLst/>
          </a:prstGeom>
          <a:noFill/>
        </p:spPr>
        <p:txBody>
          <a:bodyPr wrap="none">
            <a:spAutoFit/>
          </a:bodyPr>
          <a:lstStyle/>
          <a:p>
            <a:pPr>
              <a:defRPr sz="2000" b="1">
                <a:solidFill>
                  <a:srgbClr val="C80000"/>
                </a:solidFill>
              </a:defRPr>
            </a:pPr>
            <a:r>
              <a:rPr dirty="0"/>
              <a:t>The Problem We're Solving:</a:t>
            </a:r>
          </a:p>
          <a:p>
            <a:pPr>
              <a:spcAft>
                <a:spcPts val="600"/>
              </a:spcAft>
              <a:defRPr sz="1600">
                <a:solidFill>
                  <a:srgbClr val="323232"/>
                </a:solidFill>
              </a:defRPr>
            </a:pPr>
            <a:r>
              <a:rPr dirty="0"/>
              <a:t>❌ 15+ disconnected tools creating 275 </a:t>
            </a:r>
            <a:r>
              <a:rPr dirty="0" err="1"/>
              <a:t>hrs</a:t>
            </a:r>
            <a:r>
              <a:rPr dirty="0"/>
              <a:t>/week inefficiency</a:t>
            </a:r>
          </a:p>
          <a:p>
            <a:pPr>
              <a:spcAft>
                <a:spcPts val="600"/>
              </a:spcAft>
              <a:defRPr sz="1600">
                <a:solidFill>
                  <a:srgbClr val="323232"/>
                </a:solidFill>
              </a:defRPr>
            </a:pPr>
            <a:r>
              <a:rPr dirty="0"/>
              <a:t>❌ No production deployment capability ($184K per product waste)</a:t>
            </a:r>
          </a:p>
          <a:p>
            <a:pPr>
              <a:spcAft>
                <a:spcPts val="600"/>
              </a:spcAft>
              <a:defRPr sz="1600">
                <a:solidFill>
                  <a:srgbClr val="323232"/>
                </a:solidFill>
              </a:defRPr>
            </a:pPr>
            <a:r>
              <a:rPr dirty="0"/>
              <a:t>❌ Manual processes costing $3.1M annually</a:t>
            </a:r>
          </a:p>
          <a:p>
            <a:pPr>
              <a:spcAft>
                <a:spcPts val="600"/>
              </a:spcAft>
              <a:defRPr sz="1600">
                <a:solidFill>
                  <a:srgbClr val="323232"/>
                </a:solidFill>
              </a:defRPr>
            </a:pPr>
            <a:r>
              <a:rPr dirty="0"/>
              <a:t>❌ Store communication (30-40% message overlap)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6F170B-FBB5-2DA0-90F7-0BE3827515D2}"/>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83EA91F-3605-2652-035A-C77D717264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AEC6B4B1-01C0-1084-0049-CB662850B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a:extLst>
              <a:ext uri="{FF2B5EF4-FFF2-40B4-BE49-F238E27FC236}">
                <a16:creationId xmlns:a16="http://schemas.microsoft.com/office/drawing/2014/main" id="{C4236942-86D6-6647-4750-46A8E9EC31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341422F7-AA80-79A9-18A5-D4A502A63E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 name="TextBox 1">
            <a:extLst>
              <a:ext uri="{FF2B5EF4-FFF2-40B4-BE49-F238E27FC236}">
                <a16:creationId xmlns:a16="http://schemas.microsoft.com/office/drawing/2014/main" id="{E1B7AE88-4A4A-0DE9-1973-6047930738BC}"/>
              </a:ext>
            </a:extLst>
          </p:cNvPr>
          <p:cNvSpPr txBox="1"/>
          <p:nvPr/>
        </p:nvSpPr>
        <p:spPr>
          <a:xfrm>
            <a:off x="1037673" y="348865"/>
            <a:ext cx="7288583" cy="1576446"/>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600"/>
              </a:spcAft>
              <a:buClrTx/>
              <a:buSzTx/>
              <a:buFontTx/>
              <a:buNone/>
              <a:tabLst/>
              <a:defRPr sz="4000" b="1">
                <a:solidFill>
                  <a:srgbClr val="0071CE"/>
                </a:solidFill>
              </a:defRPr>
            </a:pPr>
            <a:r>
              <a:rPr kumimoji="0" lang="en-US" sz="3500" b="1" i="0" u="none" strike="noStrike" kern="1200" cap="none" spc="0" normalizeH="0" baseline="0" noProof="0" dirty="0">
                <a:ln>
                  <a:noFill/>
                </a:ln>
                <a:solidFill>
                  <a:srgbClr val="FFFFFF"/>
                </a:solidFill>
                <a:effectLst/>
                <a:uLnTx/>
                <a:uFillTx/>
                <a:latin typeface="Calibri"/>
                <a:ea typeface="+mn-ea"/>
                <a:cs typeface="+mn-cs"/>
              </a:rPr>
              <a:t>How We Ensure Value</a:t>
            </a:r>
          </a:p>
        </p:txBody>
      </p:sp>
      <p:sp>
        <p:nvSpPr>
          <p:cNvPr id="3" name="TextBox 2">
            <a:extLst>
              <a:ext uri="{FF2B5EF4-FFF2-40B4-BE49-F238E27FC236}">
                <a16:creationId xmlns:a16="http://schemas.microsoft.com/office/drawing/2014/main" id="{4BD36573-00C0-EE6D-04BE-F17A6C66C45B}"/>
              </a:ext>
            </a:extLst>
          </p:cNvPr>
          <p:cNvSpPr txBox="1"/>
          <p:nvPr/>
        </p:nvSpPr>
        <p:spPr>
          <a:xfrm>
            <a:off x="1126901" y="2341832"/>
            <a:ext cx="6961031" cy="1492716"/>
          </a:xfrm>
          <a:prstGeom prst="rect">
            <a:avLst/>
          </a:prstGeom>
          <a:solidFill>
            <a:srgbClr val="F0F8FF"/>
          </a:solidFill>
        </p:spPr>
        <p:txBody>
          <a:bodyPr wrap="square">
            <a:spAutoFit/>
          </a:bodyPr>
          <a:lstStyle/>
          <a:p>
            <a:pPr>
              <a:defRPr sz="2000" b="1">
                <a:solidFill>
                  <a:srgbClr val="0071CE"/>
                </a:solidFill>
              </a:defRPr>
            </a:pPr>
            <a:r>
              <a:t>📊 Platform Assessment Tool - Quality Control Gateway</a:t>
            </a:r>
          </a:p>
          <a:p>
            <a:pPr>
              <a:spcAft>
                <a:spcPts val="600"/>
              </a:spcAft>
              <a:defRPr sz="1400">
                <a:solidFill>
                  <a:srgbClr val="323232"/>
                </a:solidFill>
              </a:defRPr>
            </a:pPr>
            <a:r>
              <a:t>✅ Business owners self-evaluate product ideas before requesting development</a:t>
            </a:r>
          </a:p>
          <a:p>
            <a:pPr>
              <a:spcAft>
                <a:spcPts val="600"/>
              </a:spcAft>
              <a:defRPr sz="1400">
                <a:solidFill>
                  <a:srgbClr val="323232"/>
                </a:solidFill>
              </a:defRPr>
            </a:pPr>
            <a:r>
              <a:t>✅ Instant complexity scoring, cost estimates, and timeline recommendations</a:t>
            </a:r>
          </a:p>
          <a:p>
            <a:pPr>
              <a:spcAft>
                <a:spcPts val="600"/>
              </a:spcAft>
              <a:defRPr sz="1400">
                <a:solidFill>
                  <a:srgbClr val="323232"/>
                </a:solidFill>
              </a:defRPr>
            </a:pPr>
            <a:r>
              <a:t>✅ Only validated, high-value products enter the expensive Path to Production pipeline</a:t>
            </a:r>
          </a:p>
          <a:p>
            <a:pPr>
              <a:spcAft>
                <a:spcPts val="600"/>
              </a:spcAft>
              <a:defRPr sz="1400">
                <a:solidFill>
                  <a:srgbClr val="323232"/>
                </a:solidFill>
              </a:defRPr>
            </a:pPr>
            <a:r>
              <a:t>✅ Built-in safeguard ensures $464K infrastructure investment has quality control</a:t>
            </a:r>
          </a:p>
        </p:txBody>
      </p:sp>
      <p:sp>
        <p:nvSpPr>
          <p:cNvPr id="4" name="TextBox 3">
            <a:extLst>
              <a:ext uri="{FF2B5EF4-FFF2-40B4-BE49-F238E27FC236}">
                <a16:creationId xmlns:a16="http://schemas.microsoft.com/office/drawing/2014/main" id="{95B3362D-0FA2-5820-4DE9-8A26AB74CF44}"/>
              </a:ext>
            </a:extLst>
          </p:cNvPr>
          <p:cNvSpPr txBox="1"/>
          <p:nvPr/>
        </p:nvSpPr>
        <p:spPr>
          <a:xfrm>
            <a:off x="362755" y="4074908"/>
            <a:ext cx="8229600" cy="365760"/>
          </a:xfrm>
          <a:prstGeom prst="rect">
            <a:avLst/>
          </a:prstGeom>
          <a:noFill/>
        </p:spPr>
        <p:txBody>
          <a:bodyPr wrap="none">
            <a:spAutoFit/>
          </a:bodyPr>
          <a:lstStyle/>
          <a:p>
            <a:pPr>
              <a:defRPr sz="2000" b="1">
                <a:solidFill>
                  <a:srgbClr val="323232"/>
                </a:solidFill>
              </a:defRPr>
            </a:pPr>
            <a:r>
              <a:rPr dirty="0"/>
              <a:t>The Numbers: Deploy 5 Products Over 3 Years</a:t>
            </a:r>
          </a:p>
        </p:txBody>
      </p:sp>
      <p:sp>
        <p:nvSpPr>
          <p:cNvPr id="5" name="TextBox 4">
            <a:extLst>
              <a:ext uri="{FF2B5EF4-FFF2-40B4-BE49-F238E27FC236}">
                <a16:creationId xmlns:a16="http://schemas.microsoft.com/office/drawing/2014/main" id="{D23CA3AD-12E7-CB04-CB6F-A41EB322620F}"/>
              </a:ext>
            </a:extLst>
          </p:cNvPr>
          <p:cNvSpPr txBox="1"/>
          <p:nvPr/>
        </p:nvSpPr>
        <p:spPr>
          <a:xfrm>
            <a:off x="418563" y="4600356"/>
            <a:ext cx="4114800" cy="2103120"/>
          </a:xfrm>
          <a:prstGeom prst="rect">
            <a:avLst/>
          </a:prstGeom>
          <a:solidFill>
            <a:srgbClr val="FFF0F0"/>
          </a:solidFill>
        </p:spPr>
        <p:txBody>
          <a:bodyPr wrap="none">
            <a:spAutoFit/>
          </a:bodyPr>
          <a:lstStyle/>
          <a:p>
            <a:pPr>
              <a:defRPr sz="1800" b="1">
                <a:solidFill>
                  <a:srgbClr val="C80000"/>
                </a:solidFill>
              </a:defRPr>
            </a:pPr>
            <a:r>
              <a:t>❌ Without Path to Production:</a:t>
            </a:r>
          </a:p>
          <a:p>
            <a:pPr>
              <a:defRPr sz="1300" b="0">
                <a:solidFill>
                  <a:srgbClr val="323232"/>
                </a:solidFill>
              </a:defRPr>
            </a:pPr>
            <a:r>
              <a:t>Product 1: $184K infrastructure</a:t>
            </a:r>
          </a:p>
          <a:p>
            <a:pPr>
              <a:defRPr sz="1300" b="0">
                <a:solidFill>
                  <a:srgbClr val="323232"/>
                </a:solidFill>
              </a:defRPr>
            </a:pPr>
            <a:r>
              <a:t>Product 2: $184K infrastructure</a:t>
            </a:r>
          </a:p>
          <a:p>
            <a:pPr>
              <a:defRPr sz="1300" b="0">
                <a:solidFill>
                  <a:srgbClr val="323232"/>
                </a:solidFill>
              </a:defRPr>
            </a:pPr>
            <a:r>
              <a:t>Product 3: $184K infrastructure</a:t>
            </a:r>
          </a:p>
          <a:p>
            <a:pPr>
              <a:defRPr sz="1300" b="0">
                <a:solidFill>
                  <a:srgbClr val="323232"/>
                </a:solidFill>
              </a:defRPr>
            </a:pPr>
            <a:r>
              <a:t>Product 4: $184K infrastructure</a:t>
            </a:r>
          </a:p>
          <a:p>
            <a:pPr>
              <a:defRPr sz="1300" b="0">
                <a:solidFill>
                  <a:srgbClr val="323232"/>
                </a:solidFill>
              </a:defRPr>
            </a:pPr>
            <a:r>
              <a:t>Product 5: $184K infrastructure</a:t>
            </a:r>
          </a:p>
          <a:p>
            <a:pPr>
              <a:defRPr sz="1300" b="0">
                <a:solidFill>
                  <a:srgbClr val="323232"/>
                </a:solidFill>
              </a:defRPr>
            </a:pPr>
            <a:endParaRPr/>
          </a:p>
          <a:p>
            <a:pPr>
              <a:defRPr sz="1600" b="1">
                <a:solidFill>
                  <a:srgbClr val="C80000"/>
                </a:solidFill>
              </a:defRPr>
            </a:pPr>
            <a:r>
              <a:t>Total: $920K</a:t>
            </a:r>
          </a:p>
        </p:txBody>
      </p:sp>
      <p:sp>
        <p:nvSpPr>
          <p:cNvPr id="6" name="TextBox 5">
            <a:extLst>
              <a:ext uri="{FF2B5EF4-FFF2-40B4-BE49-F238E27FC236}">
                <a16:creationId xmlns:a16="http://schemas.microsoft.com/office/drawing/2014/main" id="{912BF642-118A-2D84-4FD4-259D79D5FB94}"/>
              </a:ext>
            </a:extLst>
          </p:cNvPr>
          <p:cNvSpPr txBox="1"/>
          <p:nvPr/>
        </p:nvSpPr>
        <p:spPr>
          <a:xfrm>
            <a:off x="4990563" y="4600356"/>
            <a:ext cx="3050835" cy="2015936"/>
          </a:xfrm>
          <a:prstGeom prst="rect">
            <a:avLst/>
          </a:prstGeom>
          <a:solidFill>
            <a:srgbClr val="F0FFF0"/>
          </a:solidFill>
        </p:spPr>
        <p:txBody>
          <a:bodyPr wrap="none">
            <a:spAutoFit/>
          </a:bodyPr>
          <a:lstStyle/>
          <a:p>
            <a:pPr>
              <a:defRPr sz="1800" b="1">
                <a:solidFill>
                  <a:srgbClr val="009600"/>
                </a:solidFill>
              </a:defRPr>
            </a:pPr>
            <a:r>
              <a:rPr dirty="0"/>
              <a:t>✅ With Path to Production:</a:t>
            </a:r>
          </a:p>
          <a:p>
            <a:pPr>
              <a:defRPr sz="1300" b="0">
                <a:solidFill>
                  <a:srgbClr val="323232"/>
                </a:solidFill>
              </a:defRPr>
            </a:pPr>
            <a:r>
              <a:rPr dirty="0"/>
              <a:t>Path to Production: $409K</a:t>
            </a:r>
          </a:p>
          <a:p>
            <a:pPr>
              <a:defRPr sz="1300" b="0">
                <a:solidFill>
                  <a:srgbClr val="323232"/>
                </a:solidFill>
              </a:defRPr>
            </a:pPr>
            <a:r>
              <a:rPr dirty="0"/>
              <a:t>Product 1 (Activity Hub): $</a:t>
            </a:r>
            <a:r>
              <a:rPr lang="en-US" dirty="0"/>
              <a:t>278</a:t>
            </a:r>
            <a:r>
              <a:rPr dirty="0"/>
              <a:t>K</a:t>
            </a:r>
          </a:p>
          <a:p>
            <a:pPr>
              <a:defRPr sz="1300" b="0">
                <a:solidFill>
                  <a:srgbClr val="323232"/>
                </a:solidFill>
              </a:defRPr>
            </a:pPr>
            <a:r>
              <a:rPr dirty="0"/>
              <a:t>Product 2: $55K</a:t>
            </a:r>
          </a:p>
          <a:p>
            <a:pPr>
              <a:defRPr sz="1300" b="0">
                <a:solidFill>
                  <a:srgbClr val="323232"/>
                </a:solidFill>
              </a:defRPr>
            </a:pPr>
            <a:r>
              <a:rPr dirty="0"/>
              <a:t>Product 3: $55K</a:t>
            </a:r>
          </a:p>
          <a:p>
            <a:pPr>
              <a:defRPr sz="1300" b="0">
                <a:solidFill>
                  <a:srgbClr val="323232"/>
                </a:solidFill>
              </a:defRPr>
            </a:pPr>
            <a:r>
              <a:rPr dirty="0"/>
              <a:t>Product 4: $55K</a:t>
            </a:r>
          </a:p>
          <a:p>
            <a:pPr>
              <a:defRPr sz="1300" b="0">
                <a:solidFill>
                  <a:srgbClr val="323232"/>
                </a:solidFill>
              </a:defRPr>
            </a:pPr>
            <a:r>
              <a:rPr dirty="0"/>
              <a:t>Product 5: $55K</a:t>
            </a:r>
          </a:p>
          <a:p>
            <a:pPr>
              <a:defRPr sz="1300" b="0">
                <a:solidFill>
                  <a:srgbClr val="323232"/>
                </a:solidFill>
              </a:defRPr>
            </a:pPr>
            <a:endParaRPr dirty="0"/>
          </a:p>
          <a:p>
            <a:pPr>
              <a:defRPr sz="1600" b="1">
                <a:solidFill>
                  <a:srgbClr val="009600"/>
                </a:solidFill>
              </a:defRPr>
            </a:pPr>
            <a:r>
              <a:rPr dirty="0"/>
              <a:t>Total: </a:t>
            </a:r>
            <a:r>
              <a:rPr lang="en-US" dirty="0"/>
              <a:t>$8557</a:t>
            </a:r>
            <a:r>
              <a:rPr dirty="0"/>
              <a:t>K | Save $6</a:t>
            </a:r>
            <a:r>
              <a:rPr lang="en-US" dirty="0"/>
              <a:t>3</a:t>
            </a:r>
            <a:r>
              <a:rPr dirty="0"/>
              <a:t>K (</a:t>
            </a:r>
            <a:r>
              <a:rPr lang="en-US" dirty="0"/>
              <a:t>7</a:t>
            </a:r>
            <a:r>
              <a:rPr dirty="0"/>
              <a:t>%)</a:t>
            </a:r>
          </a:p>
        </p:txBody>
      </p:sp>
    </p:spTree>
    <p:extLst>
      <p:ext uri="{BB962C8B-B14F-4D97-AF65-F5344CB8AC3E}">
        <p14:creationId xmlns:p14="http://schemas.microsoft.com/office/powerpoint/2010/main" val="2349166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9F5E91-4FDF-1C3D-85EB-E7B52CCBAF97}"/>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DA35146-C004-7F59-2FA1-A6BDA6984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FEA63899-7E5B-4F97-CAFB-3B9F0371D4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a:extLst>
              <a:ext uri="{FF2B5EF4-FFF2-40B4-BE49-F238E27FC236}">
                <a16:creationId xmlns:a16="http://schemas.microsoft.com/office/drawing/2014/main" id="{8141749A-AD99-B93F-0530-1D3861BAA5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A792CE08-9B73-C23A-FB96-65DC1785F9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 name="TextBox 1">
            <a:extLst>
              <a:ext uri="{FF2B5EF4-FFF2-40B4-BE49-F238E27FC236}">
                <a16:creationId xmlns:a16="http://schemas.microsoft.com/office/drawing/2014/main" id="{2CBE8BB2-3244-CDCA-9F7D-FFD4BBCCF53D}"/>
              </a:ext>
            </a:extLst>
          </p:cNvPr>
          <p:cNvSpPr txBox="1"/>
          <p:nvPr/>
        </p:nvSpPr>
        <p:spPr>
          <a:xfrm>
            <a:off x="1037673" y="348865"/>
            <a:ext cx="7288583" cy="1576446"/>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600"/>
              </a:spcAft>
              <a:buClrTx/>
              <a:buSzTx/>
              <a:buFontTx/>
              <a:buNone/>
              <a:tabLst/>
              <a:defRPr sz="4000" b="1">
                <a:solidFill>
                  <a:srgbClr val="0071CE"/>
                </a:solidFill>
              </a:defRPr>
            </a:pPr>
            <a:r>
              <a:rPr kumimoji="0" lang="en-US" sz="3500" b="1" i="0" u="none" strike="noStrike" kern="1200" cap="none" spc="0" normalizeH="0" baseline="0" noProof="0" dirty="0">
                <a:ln>
                  <a:noFill/>
                </a:ln>
                <a:solidFill>
                  <a:srgbClr val="FFFFFF"/>
                </a:solidFill>
                <a:effectLst/>
                <a:uLnTx/>
                <a:uFillTx/>
                <a:latin typeface="Calibri"/>
                <a:ea typeface="+mn-ea"/>
                <a:cs typeface="+mn-cs"/>
              </a:rPr>
              <a:t>Timeline &amp; Benefits</a:t>
            </a:r>
          </a:p>
        </p:txBody>
      </p:sp>
      <p:sp>
        <p:nvSpPr>
          <p:cNvPr id="6" name="TextBox 5">
            <a:extLst>
              <a:ext uri="{FF2B5EF4-FFF2-40B4-BE49-F238E27FC236}">
                <a16:creationId xmlns:a16="http://schemas.microsoft.com/office/drawing/2014/main" id="{F631E7DA-F418-F12F-8CB1-4AC6C231B232}"/>
              </a:ext>
            </a:extLst>
          </p:cNvPr>
          <p:cNvSpPr txBox="1"/>
          <p:nvPr/>
        </p:nvSpPr>
        <p:spPr>
          <a:xfrm>
            <a:off x="576330" y="2310658"/>
            <a:ext cx="4114800" cy="2286000"/>
          </a:xfrm>
          <a:prstGeom prst="rect">
            <a:avLst/>
          </a:prstGeom>
          <a:noFill/>
        </p:spPr>
        <p:txBody>
          <a:bodyPr wrap="none">
            <a:spAutoFit/>
          </a:bodyPr>
          <a:lstStyle/>
          <a:p>
            <a:pPr>
              <a:defRPr sz="2000" b="1">
                <a:solidFill>
                  <a:srgbClr val="0071CE"/>
                </a:solidFill>
              </a:defRPr>
            </a:pPr>
            <a:r>
              <a:rPr dirty="0"/>
              <a:t>⏱️ Implementation Timeline</a:t>
            </a:r>
          </a:p>
          <a:p>
            <a:pPr>
              <a:defRPr sz="1600" b="0">
                <a:solidFill>
                  <a:srgbClr val="323232"/>
                </a:solidFill>
              </a:defRPr>
            </a:pPr>
            <a:endParaRPr dirty="0"/>
          </a:p>
          <a:p>
            <a:pPr>
              <a:defRPr sz="1600" b="1">
                <a:solidFill>
                  <a:srgbClr val="323232"/>
                </a:solidFill>
              </a:defRPr>
            </a:pPr>
            <a:r>
              <a:rPr dirty="0"/>
              <a:t>Months 1-2: Foundation</a:t>
            </a:r>
          </a:p>
          <a:p>
            <a:pPr>
              <a:defRPr sz="1400" b="0">
                <a:solidFill>
                  <a:srgbClr val="323232"/>
                </a:solidFill>
              </a:defRPr>
            </a:pPr>
            <a:r>
              <a:rPr dirty="0"/>
              <a:t>  APM registration, Azure setup</a:t>
            </a:r>
          </a:p>
          <a:p>
            <a:pPr>
              <a:defRPr sz="1600" b="0">
                <a:solidFill>
                  <a:srgbClr val="323232"/>
                </a:solidFill>
              </a:defRPr>
            </a:pPr>
            <a:endParaRPr dirty="0"/>
          </a:p>
          <a:p>
            <a:pPr>
              <a:defRPr sz="1600" b="1">
                <a:solidFill>
                  <a:srgbClr val="323232"/>
                </a:solidFill>
              </a:defRPr>
            </a:pPr>
            <a:r>
              <a:rPr dirty="0"/>
              <a:t>Months 3-4: Security</a:t>
            </a:r>
          </a:p>
          <a:p>
            <a:pPr>
              <a:defRPr sz="1400" b="0">
                <a:solidFill>
                  <a:srgbClr val="323232"/>
                </a:solidFill>
              </a:defRPr>
            </a:pPr>
            <a:r>
              <a:rPr dirty="0"/>
              <a:t>  SSP approval, compliance</a:t>
            </a:r>
          </a:p>
          <a:p>
            <a:pPr>
              <a:defRPr sz="1600" b="0">
                <a:solidFill>
                  <a:srgbClr val="323232"/>
                </a:solidFill>
              </a:defRPr>
            </a:pPr>
            <a:endParaRPr dirty="0"/>
          </a:p>
          <a:p>
            <a:pPr>
              <a:defRPr sz="1600" b="1">
                <a:solidFill>
                  <a:srgbClr val="323232"/>
                </a:solidFill>
              </a:defRPr>
            </a:pPr>
            <a:r>
              <a:rPr dirty="0"/>
              <a:t>Month 5: Testing &amp; Deploy</a:t>
            </a:r>
          </a:p>
          <a:p>
            <a:pPr>
              <a:defRPr sz="1400" b="0">
                <a:solidFill>
                  <a:srgbClr val="323232"/>
                </a:solidFill>
              </a:defRPr>
            </a:pPr>
            <a:r>
              <a:rPr dirty="0"/>
              <a:t>  CI/CD pipeline, Activity Hub</a:t>
            </a:r>
          </a:p>
          <a:p>
            <a:pPr>
              <a:defRPr sz="1600" b="0">
                <a:solidFill>
                  <a:srgbClr val="323232"/>
                </a:solidFill>
              </a:defRPr>
            </a:pPr>
            <a:endParaRPr dirty="0"/>
          </a:p>
          <a:p>
            <a:pPr>
              <a:defRPr sz="1600" b="1">
                <a:solidFill>
                  <a:srgbClr val="323232"/>
                </a:solidFill>
              </a:defRPr>
            </a:pPr>
            <a:r>
              <a:rPr dirty="0"/>
              <a:t>Month 6+: Value Realization</a:t>
            </a:r>
          </a:p>
          <a:p>
            <a:pPr>
              <a:defRPr sz="1400" b="0">
                <a:solidFill>
                  <a:srgbClr val="323232"/>
                </a:solidFill>
              </a:defRPr>
            </a:pPr>
            <a:r>
              <a:rPr dirty="0"/>
              <a:t>  Additional products follow</a:t>
            </a:r>
          </a:p>
        </p:txBody>
      </p:sp>
      <p:sp>
        <p:nvSpPr>
          <p:cNvPr id="7" name="TextBox 6">
            <a:extLst>
              <a:ext uri="{FF2B5EF4-FFF2-40B4-BE49-F238E27FC236}">
                <a16:creationId xmlns:a16="http://schemas.microsoft.com/office/drawing/2014/main" id="{7B55D2CF-BE38-0388-A599-9EC518322504}"/>
              </a:ext>
            </a:extLst>
          </p:cNvPr>
          <p:cNvSpPr txBox="1"/>
          <p:nvPr/>
        </p:nvSpPr>
        <p:spPr>
          <a:xfrm>
            <a:off x="4810259" y="2304889"/>
            <a:ext cx="3557384" cy="4047262"/>
          </a:xfrm>
          <a:prstGeom prst="rect">
            <a:avLst/>
          </a:prstGeom>
          <a:solidFill>
            <a:srgbClr val="F0FFF0"/>
          </a:solidFill>
        </p:spPr>
        <p:txBody>
          <a:bodyPr wrap="none">
            <a:spAutoFit/>
          </a:bodyPr>
          <a:lstStyle/>
          <a:p>
            <a:pPr>
              <a:defRPr sz="2000" b="1">
                <a:solidFill>
                  <a:srgbClr val="009600"/>
                </a:solidFill>
              </a:defRPr>
            </a:pPr>
            <a:r>
              <a:rPr lang="en-US" dirty="0"/>
              <a:t>💰 Annual Benefits Breakdown</a:t>
            </a:r>
          </a:p>
          <a:p>
            <a:pPr>
              <a:defRPr sz="1500" b="0">
                <a:solidFill>
                  <a:srgbClr val="323232"/>
                </a:solidFill>
              </a:defRPr>
            </a:pPr>
            <a:endParaRPr lang="en-US" dirty="0"/>
          </a:p>
          <a:p>
            <a:pPr>
              <a:defRPr sz="1500" b="1">
                <a:solidFill>
                  <a:srgbClr val="323232"/>
                </a:solidFill>
              </a:defRPr>
            </a:pPr>
            <a:r>
              <a:rPr lang="en-US" dirty="0"/>
              <a:t>Process Efficiency:</a:t>
            </a:r>
          </a:p>
          <a:p>
            <a:pPr>
              <a:defRPr sz="1400" b="0">
                <a:solidFill>
                  <a:srgbClr val="323232"/>
                </a:solidFill>
              </a:defRPr>
            </a:pPr>
            <a:r>
              <a:rPr lang="en-US" dirty="0"/>
              <a:t>  $15.6M (275 </a:t>
            </a:r>
            <a:r>
              <a:rPr lang="en-US" dirty="0" err="1"/>
              <a:t>hrs</a:t>
            </a:r>
            <a:r>
              <a:rPr lang="en-US" dirty="0"/>
              <a:t>/week saved)</a:t>
            </a:r>
          </a:p>
          <a:p>
            <a:pPr>
              <a:defRPr sz="1500" b="1">
                <a:solidFill>
                  <a:srgbClr val="323232"/>
                </a:solidFill>
              </a:defRPr>
            </a:pPr>
            <a:r>
              <a:rPr lang="en-US" dirty="0"/>
              <a:t>Infrastructure Savings:</a:t>
            </a:r>
          </a:p>
          <a:p>
            <a:pPr>
              <a:defRPr sz="1400" b="0">
                <a:solidFill>
                  <a:srgbClr val="323232"/>
                </a:solidFill>
              </a:defRPr>
            </a:pPr>
            <a:r>
              <a:rPr lang="en-US" dirty="0"/>
              <a:t>  $2.1M (reusable platform)</a:t>
            </a:r>
          </a:p>
          <a:p>
            <a:pPr>
              <a:defRPr sz="1500" b="1">
                <a:solidFill>
                  <a:srgbClr val="323232"/>
                </a:solidFill>
              </a:defRPr>
            </a:pPr>
            <a:r>
              <a:rPr lang="en-US" dirty="0"/>
              <a:t>Better Decision Making:</a:t>
            </a:r>
          </a:p>
          <a:p>
            <a:pPr>
              <a:defRPr sz="1400" b="0">
                <a:solidFill>
                  <a:srgbClr val="323232"/>
                </a:solidFill>
              </a:defRPr>
            </a:pPr>
            <a:r>
              <a:rPr lang="en-US" dirty="0"/>
              <a:t>  $1.4M (real-time data)</a:t>
            </a:r>
          </a:p>
          <a:p>
            <a:pPr>
              <a:defRPr sz="1500" b="0">
                <a:solidFill>
                  <a:srgbClr val="323232"/>
                </a:solidFill>
              </a:defRPr>
            </a:pPr>
            <a:r>
              <a:rPr lang="en-US" b="1" dirty="0"/>
              <a:t>Productivity Improvement:</a:t>
            </a:r>
          </a:p>
          <a:p>
            <a:pPr>
              <a:defRPr sz="1500" b="0">
                <a:solidFill>
                  <a:srgbClr val="323232"/>
                </a:solidFill>
              </a:defRPr>
            </a:pPr>
            <a:r>
              <a:rPr lang="en-US" dirty="0"/>
              <a:t>$6.2M (15% delivery improvement)</a:t>
            </a:r>
          </a:p>
          <a:p>
            <a:pPr>
              <a:defRPr sz="1500" b="1">
                <a:solidFill>
                  <a:srgbClr val="323232"/>
                </a:solidFill>
              </a:defRPr>
            </a:pPr>
            <a:r>
              <a:rPr lang="en-US" dirty="0"/>
              <a:t>Administrative Reduction:</a:t>
            </a:r>
          </a:p>
          <a:p>
            <a:pPr>
              <a:defRPr sz="1500" b="0">
                <a:solidFill>
                  <a:srgbClr val="323232"/>
                </a:solidFill>
              </a:defRPr>
            </a:pPr>
            <a:r>
              <a:rPr lang="en-US" sz="1500" dirty="0">
                <a:solidFill>
                  <a:srgbClr val="323232"/>
                </a:solidFill>
              </a:rPr>
              <a:t>$3.1M (30% task time savings)</a:t>
            </a:r>
          </a:p>
          <a:p>
            <a:pPr>
              <a:defRPr sz="1500" b="1">
                <a:solidFill>
                  <a:srgbClr val="323232"/>
                </a:solidFill>
              </a:defRPr>
            </a:pPr>
            <a:r>
              <a:rPr lang="en-US" sz="1500" b="1" dirty="0"/>
              <a:t>Collaboration</a:t>
            </a:r>
            <a:r>
              <a:rPr lang="en-US" dirty="0"/>
              <a:t>:</a:t>
            </a:r>
          </a:p>
          <a:p>
            <a:pPr>
              <a:defRPr sz="1500" b="0">
                <a:solidFill>
                  <a:srgbClr val="323232"/>
                </a:solidFill>
              </a:defRPr>
            </a:pPr>
            <a:r>
              <a:rPr lang="en-US" sz="1500" dirty="0">
                <a:solidFill>
                  <a:srgbClr val="323232"/>
                </a:solidFill>
              </a:rPr>
              <a:t>$2.1M (40% cross-functional efficiency)</a:t>
            </a:r>
          </a:p>
          <a:p>
            <a:pPr>
              <a:defRPr sz="1500" b="0">
                <a:solidFill>
                  <a:srgbClr val="323232"/>
                </a:solidFill>
              </a:defRPr>
            </a:pPr>
            <a:endParaRPr lang="en-US" sz="1500" dirty="0">
              <a:solidFill>
                <a:srgbClr val="323232"/>
              </a:solidFill>
            </a:endParaRPr>
          </a:p>
          <a:p>
            <a:pPr>
              <a:defRPr sz="1500" b="1">
                <a:solidFill>
                  <a:srgbClr val="009600"/>
                </a:solidFill>
              </a:defRPr>
            </a:pPr>
            <a:r>
              <a:rPr lang="en-US" dirty="0"/>
              <a:t>Total Annual: $27M</a:t>
            </a:r>
          </a:p>
          <a:p>
            <a:pPr>
              <a:defRPr sz="1500" b="1">
                <a:solidFill>
                  <a:srgbClr val="009600"/>
                </a:solidFill>
              </a:defRPr>
            </a:pPr>
            <a:r>
              <a:rPr lang="en-US" dirty="0"/>
              <a:t>3-Year Total: $81M</a:t>
            </a:r>
          </a:p>
        </p:txBody>
      </p:sp>
      <p:sp>
        <p:nvSpPr>
          <p:cNvPr id="8" name="TextBox 7">
            <a:extLst>
              <a:ext uri="{FF2B5EF4-FFF2-40B4-BE49-F238E27FC236}">
                <a16:creationId xmlns:a16="http://schemas.microsoft.com/office/drawing/2014/main" id="{894F03E2-C7D8-85D8-F971-753EFB862D9C}"/>
              </a:ext>
            </a:extLst>
          </p:cNvPr>
          <p:cNvSpPr txBox="1"/>
          <p:nvPr/>
        </p:nvSpPr>
        <p:spPr>
          <a:xfrm>
            <a:off x="457200" y="6437291"/>
            <a:ext cx="8229600" cy="640080"/>
          </a:xfrm>
          <a:prstGeom prst="rect">
            <a:avLst/>
          </a:prstGeom>
          <a:solidFill>
            <a:srgbClr val="C80000"/>
          </a:solidFill>
        </p:spPr>
        <p:txBody>
          <a:bodyPr wrap="none" anchor="t">
            <a:spAutoFit/>
          </a:bodyPr>
          <a:lstStyle/>
          <a:p>
            <a:pPr algn="ctr">
              <a:defRPr sz="1800" b="1">
                <a:solidFill>
                  <a:srgbClr val="FFFFFF"/>
                </a:solidFill>
              </a:defRPr>
            </a:pPr>
            <a:r>
              <a:rPr dirty="0"/>
              <a:t>Break-Even: Month 2 | Every month of delay costs $262K</a:t>
            </a:r>
          </a:p>
        </p:txBody>
      </p:sp>
    </p:spTree>
    <p:extLst>
      <p:ext uri="{BB962C8B-B14F-4D97-AF65-F5344CB8AC3E}">
        <p14:creationId xmlns:p14="http://schemas.microsoft.com/office/powerpoint/2010/main" val="1977978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2D67A9-3FF2-FE3E-BE36-592F446FB4E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6EE1371-9C43-1DA1-CAFE-95C1434DB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E40ACFF4-C7EB-9643-50D6-AE6FF4B74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9144000"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AE82657F-8A47-BD61-3E43-A77AB60C9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41640" y="-1720"/>
            <a:ext cx="881253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663D587F-3351-86AA-0BDA-AEF523991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4540" y="-1291"/>
            <a:ext cx="2706134"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a:extLst>
              <a:ext uri="{FF2B5EF4-FFF2-40B4-BE49-F238E27FC236}">
                <a16:creationId xmlns:a16="http://schemas.microsoft.com/office/drawing/2014/main" id="{69D773E5-A4FF-0DEF-BC24-A728230897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3923854" y="1402819"/>
            <a:ext cx="4967533" cy="3741293"/>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 name="TextBox 1">
            <a:extLst>
              <a:ext uri="{FF2B5EF4-FFF2-40B4-BE49-F238E27FC236}">
                <a16:creationId xmlns:a16="http://schemas.microsoft.com/office/drawing/2014/main" id="{39118530-C200-78C5-0A4E-73F1E53E2A78}"/>
              </a:ext>
            </a:extLst>
          </p:cNvPr>
          <p:cNvSpPr txBox="1"/>
          <p:nvPr/>
        </p:nvSpPr>
        <p:spPr>
          <a:xfrm>
            <a:off x="1073614" y="333629"/>
            <a:ext cx="8118756" cy="717895"/>
          </a:xfrm>
          <a:prstGeom prst="rect">
            <a:avLst/>
          </a:prstGeom>
        </p:spPr>
        <p:txBody>
          <a:bodyPr vert="horz" lIns="91440" tIns="45720" rIns="91440" bIns="45720" rtlCol="0" anchor="b">
            <a:normAutofit/>
          </a:bodyPr>
          <a:lstStyle/>
          <a:p>
            <a:pPr marL="0" marR="0" lvl="0" indent="0" algn="ctr" defTabSz="914400" rtl="0" eaLnBrk="1" fontAlgn="auto" latinLnBrk="0" hangingPunct="1">
              <a:lnSpc>
                <a:spcPct val="90000"/>
              </a:lnSpc>
              <a:spcBef>
                <a:spcPct val="0"/>
              </a:spcBef>
              <a:spcAft>
                <a:spcPts val="600"/>
              </a:spcAft>
              <a:buClrTx/>
              <a:buSzTx/>
              <a:buFontTx/>
              <a:buNone/>
              <a:tabLst/>
              <a:defRPr sz="5400" b="1">
                <a:solidFill>
                  <a:srgbClr val="FFFFFF"/>
                </a:solidFill>
              </a:defRPr>
            </a:pPr>
            <a:r>
              <a:rPr kumimoji="0" lang="en-US" sz="4200" b="1" i="0" u="none" strike="noStrike" kern="1200" cap="none" spc="0" normalizeH="0" baseline="0" noProof="0" dirty="0">
                <a:ln>
                  <a:noFill/>
                </a:ln>
                <a:solidFill>
                  <a:srgbClr val="FFFFFF"/>
                </a:solidFill>
                <a:effectLst/>
                <a:uLnTx/>
                <a:uFillTx/>
                <a:latin typeface="Calibri"/>
                <a:ea typeface="+mn-ea"/>
                <a:cs typeface="+mn-cs"/>
              </a:rPr>
              <a:t>Ready to Transform Store Support?</a:t>
            </a:r>
          </a:p>
        </p:txBody>
      </p:sp>
      <p:sp>
        <p:nvSpPr>
          <p:cNvPr id="19" name="Rectangle 18">
            <a:extLst>
              <a:ext uri="{FF2B5EF4-FFF2-40B4-BE49-F238E27FC236}">
                <a16:creationId xmlns:a16="http://schemas.microsoft.com/office/drawing/2014/main" id="{BE02655D-A41A-5DC5-43EA-D907B7A93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735" y="4480038"/>
            <a:ext cx="9134528"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0804B2F7-2A90-9AF5-006E-FD411DA215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368117" y="2081692"/>
            <a:ext cx="6857572" cy="2694194"/>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F95EC1DC-76D5-3BC2-C44D-801818EA2E23}"/>
              </a:ext>
            </a:extLst>
          </p:cNvPr>
          <p:cNvSpPr txBox="1"/>
          <p:nvPr/>
        </p:nvSpPr>
        <p:spPr>
          <a:xfrm>
            <a:off x="2032715" y="6318486"/>
            <a:ext cx="4580586" cy="4001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3200">
                <a:solidFill>
                  <a:srgbClr val="FFFFFF"/>
                </a:solidFill>
              </a:defRPr>
            </a:pPr>
            <a:r>
              <a:rPr kumimoji="0" lang="en-US" sz="2000" b="0" i="1" u="none" strike="noStrike" kern="1200" cap="none" spc="0" normalizeH="0" baseline="0" noProof="0" dirty="0">
                <a:ln>
                  <a:noFill/>
                </a:ln>
                <a:solidFill>
                  <a:srgbClr val="FFFFFF"/>
                </a:solidFill>
                <a:effectLst/>
                <a:uLnTx/>
                <a:uFillTx/>
                <a:latin typeface="Calibri"/>
                <a:ea typeface="+mn-ea"/>
                <a:cs typeface="+mn-cs"/>
              </a:rPr>
              <a:t>Executive Brief</a:t>
            </a:r>
          </a:p>
        </p:txBody>
      </p:sp>
      <p:sp>
        <p:nvSpPr>
          <p:cNvPr id="10" name="TextBox 9">
            <a:extLst>
              <a:ext uri="{FF2B5EF4-FFF2-40B4-BE49-F238E27FC236}">
                <a16:creationId xmlns:a16="http://schemas.microsoft.com/office/drawing/2014/main" id="{1D865283-DE78-A4F1-D4B3-56C2997A08FD}"/>
              </a:ext>
            </a:extLst>
          </p:cNvPr>
          <p:cNvSpPr txBox="1"/>
          <p:nvPr/>
        </p:nvSpPr>
        <p:spPr>
          <a:xfrm>
            <a:off x="1956682" y="1419246"/>
            <a:ext cx="4921540" cy="2369880"/>
          </a:xfrm>
          <a:prstGeom prst="rect">
            <a:avLst/>
          </a:prstGeom>
          <a:noFill/>
        </p:spPr>
        <p:txBody>
          <a:bodyPr wrap="none">
            <a:spAutoFit/>
          </a:bodyPr>
          <a:lstStyle/>
          <a:p>
            <a:pPr algn="ctr">
              <a:defRPr sz="2800" b="1">
                <a:solidFill>
                  <a:srgbClr val="FFC220"/>
                </a:solidFill>
              </a:defRPr>
            </a:pPr>
            <a:r>
              <a:rPr dirty="0"/>
              <a:t>We Need Two Approvals:</a:t>
            </a:r>
          </a:p>
          <a:p>
            <a:pPr algn="ctr">
              <a:defRPr sz="1800" b="0">
                <a:solidFill>
                  <a:srgbClr val="FFFFFF"/>
                </a:solidFill>
              </a:defRPr>
            </a:pPr>
            <a:endParaRPr dirty="0"/>
          </a:p>
          <a:p>
            <a:pPr algn="ctr">
              <a:defRPr sz="2400" b="1">
                <a:solidFill>
                  <a:srgbClr val="FFFFFF"/>
                </a:solidFill>
              </a:defRPr>
            </a:pPr>
            <a:r>
              <a:rPr dirty="0"/>
              <a:t>☑️ Path to Production Infrastructure</a:t>
            </a:r>
          </a:p>
          <a:p>
            <a:pPr algn="ctr">
              <a:defRPr sz="1800" b="0">
                <a:solidFill>
                  <a:srgbClr val="FFFFFF"/>
                </a:solidFill>
              </a:defRPr>
            </a:pPr>
            <a:r>
              <a:rPr dirty="0"/>
              <a:t>   $409K over 3 years</a:t>
            </a:r>
          </a:p>
          <a:p>
            <a:pPr algn="ctr">
              <a:defRPr sz="1800" b="0">
                <a:solidFill>
                  <a:srgbClr val="FFFFFF"/>
                </a:solidFill>
              </a:defRPr>
            </a:pPr>
            <a:endParaRPr dirty="0"/>
          </a:p>
          <a:p>
            <a:pPr algn="ctr">
              <a:defRPr sz="2400" b="1">
                <a:solidFill>
                  <a:srgbClr val="FFFFFF"/>
                </a:solidFill>
              </a:defRPr>
            </a:pPr>
            <a:r>
              <a:rPr dirty="0"/>
              <a:t>☑️ Activity Hub Platform</a:t>
            </a:r>
          </a:p>
          <a:p>
            <a:pPr algn="ctr">
              <a:defRPr sz="1800" b="0">
                <a:solidFill>
                  <a:srgbClr val="FFFFFF"/>
                </a:solidFill>
              </a:defRPr>
            </a:pPr>
            <a:r>
              <a:rPr dirty="0"/>
              <a:t>   $</a:t>
            </a:r>
            <a:r>
              <a:rPr lang="en-US" dirty="0"/>
              <a:t>228</a:t>
            </a:r>
            <a:r>
              <a:rPr dirty="0"/>
              <a:t>K one-time</a:t>
            </a:r>
          </a:p>
        </p:txBody>
      </p:sp>
      <p:sp>
        <p:nvSpPr>
          <p:cNvPr id="12" name="TextBox 11">
            <a:extLst>
              <a:ext uri="{FF2B5EF4-FFF2-40B4-BE49-F238E27FC236}">
                <a16:creationId xmlns:a16="http://schemas.microsoft.com/office/drawing/2014/main" id="{F711F36B-5915-50BA-472E-E8F8C5312C1C}"/>
              </a:ext>
            </a:extLst>
          </p:cNvPr>
          <p:cNvSpPr txBox="1"/>
          <p:nvPr/>
        </p:nvSpPr>
        <p:spPr>
          <a:xfrm>
            <a:off x="1563946" y="3666726"/>
            <a:ext cx="5707012" cy="1631216"/>
          </a:xfrm>
          <a:prstGeom prst="rect">
            <a:avLst/>
          </a:prstGeom>
          <a:noFill/>
        </p:spPr>
        <p:txBody>
          <a:bodyPr wrap="none">
            <a:spAutoFit/>
          </a:bodyPr>
          <a:lstStyle/>
          <a:p>
            <a:pPr algn="ctr">
              <a:defRPr sz="3200" b="1">
                <a:solidFill>
                  <a:srgbClr val="FFC220"/>
                </a:solidFill>
              </a:defRPr>
            </a:pPr>
            <a:r>
              <a:rPr dirty="0"/>
              <a:t>$</a:t>
            </a:r>
            <a:r>
              <a:rPr lang="en-US" dirty="0"/>
              <a:t>637</a:t>
            </a:r>
            <a:r>
              <a:rPr dirty="0"/>
              <a:t>K Investment | $</a:t>
            </a:r>
            <a:r>
              <a:rPr lang="en-US" dirty="0"/>
              <a:t>81</a:t>
            </a:r>
            <a:r>
              <a:rPr dirty="0"/>
              <a:t>M Value</a:t>
            </a:r>
          </a:p>
          <a:p>
            <a:pPr algn="ctr">
              <a:defRPr sz="2800" b="1">
                <a:solidFill>
                  <a:srgbClr val="FFC220"/>
                </a:solidFill>
              </a:defRPr>
            </a:pPr>
            <a:r>
              <a:rPr lang="en-US" dirty="0"/>
              <a:t>4</a:t>
            </a:r>
            <a:r>
              <a:rPr dirty="0"/>
              <a:t>,0</a:t>
            </a:r>
            <a:r>
              <a:rPr lang="en-US" dirty="0"/>
              <a:t>21</a:t>
            </a:r>
            <a:r>
              <a:rPr dirty="0"/>
              <a:t>% ROI | Break-Even: Month </a:t>
            </a:r>
            <a:r>
              <a:rPr lang="en-US" dirty="0"/>
              <a:t>3</a:t>
            </a:r>
            <a:endParaRPr dirty="0"/>
          </a:p>
          <a:p>
            <a:endParaRPr dirty="0"/>
          </a:p>
          <a:p>
            <a:pPr algn="ctr">
              <a:defRPr sz="2200">
                <a:solidFill>
                  <a:srgbClr val="FFFFFF"/>
                </a:solidFill>
              </a:defRPr>
            </a:pPr>
            <a:r>
              <a:rPr dirty="0"/>
              <a:t>Target Launch: August 2026</a:t>
            </a:r>
          </a:p>
        </p:txBody>
      </p:sp>
      <p:sp>
        <p:nvSpPr>
          <p:cNvPr id="14" name="TextBox 13">
            <a:extLst>
              <a:ext uri="{FF2B5EF4-FFF2-40B4-BE49-F238E27FC236}">
                <a16:creationId xmlns:a16="http://schemas.microsoft.com/office/drawing/2014/main" id="{767B9D41-EC38-C6AD-A578-084EF5F4E038}"/>
              </a:ext>
            </a:extLst>
          </p:cNvPr>
          <p:cNvSpPr txBox="1"/>
          <p:nvPr/>
        </p:nvSpPr>
        <p:spPr>
          <a:xfrm>
            <a:off x="1674252" y="5277483"/>
            <a:ext cx="5486400" cy="731520"/>
          </a:xfrm>
          <a:prstGeom prst="rect">
            <a:avLst/>
          </a:prstGeom>
          <a:noFill/>
        </p:spPr>
        <p:txBody>
          <a:bodyPr wrap="none">
            <a:spAutoFit/>
          </a:bodyPr>
          <a:lstStyle/>
          <a:p>
            <a:pPr algn="ctr">
              <a:defRPr sz="3200" b="1">
                <a:solidFill>
                  <a:srgbClr val="FFFFFF"/>
                </a:solidFill>
              </a:defRPr>
            </a:pPr>
            <a:r>
              <a:rPr dirty="0"/>
              <a:t>Let's Build the Future of Store Support</a:t>
            </a:r>
          </a:p>
        </p:txBody>
      </p:sp>
      <p:pic>
        <p:nvPicPr>
          <p:cNvPr id="16" name="Picture 15" descr="A yellow circle with five pointed points&#10;&#10;AI-generated content may be incorrect.">
            <a:extLst>
              <a:ext uri="{FF2B5EF4-FFF2-40B4-BE49-F238E27FC236}">
                <a16:creationId xmlns:a16="http://schemas.microsoft.com/office/drawing/2014/main" id="{F4C5490B-C17F-B171-D878-D534BC4BA549}"/>
              </a:ext>
            </a:extLst>
          </p:cNvPr>
          <p:cNvPicPr>
            <a:picLocks noChangeAspect="1"/>
          </p:cNvPicPr>
          <p:nvPr/>
        </p:nvPicPr>
        <p:blipFill>
          <a:blip r:embed="rId3"/>
          <a:stretch>
            <a:fillRect/>
          </a:stretch>
        </p:blipFill>
        <p:spPr>
          <a:xfrm>
            <a:off x="-246524" y="-153520"/>
            <a:ext cx="1789524" cy="1789524"/>
          </a:xfrm>
          <a:prstGeom prst="rect">
            <a:avLst/>
          </a:prstGeom>
        </p:spPr>
      </p:pic>
    </p:spTree>
    <p:extLst>
      <p:ext uri="{BB962C8B-B14F-4D97-AF65-F5344CB8AC3E}">
        <p14:creationId xmlns:p14="http://schemas.microsoft.com/office/powerpoint/2010/main" val="18783500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35088</TotalTime>
  <Words>753</Words>
  <Application>Microsoft Office PowerPoint</Application>
  <PresentationFormat>On-screen Show (4:3)</PresentationFormat>
  <Paragraphs>149</Paragraphs>
  <Slides>14</Slides>
  <Notes>11</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Kendall Rush</cp:lastModifiedBy>
  <cp:revision>6</cp:revision>
  <dcterms:created xsi:type="dcterms:W3CDTF">2013-01-27T09:14:16Z</dcterms:created>
  <dcterms:modified xsi:type="dcterms:W3CDTF">2026-01-10T00:41:49Z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44a753e-b937-4727-8173-58e965e4ef41_Enabled">
    <vt:lpwstr>true</vt:lpwstr>
  </property>
  <property fmtid="{D5CDD505-2E9C-101B-9397-08002B2CF9AE}" pid="3" name="MSIP_Label_444a753e-b937-4727-8173-58e965e4ef41_SetDate">
    <vt:lpwstr>2025-12-16T15:54:10Z</vt:lpwstr>
  </property>
  <property fmtid="{D5CDD505-2E9C-101B-9397-08002B2CF9AE}" pid="4" name="MSIP_Label_444a753e-b937-4727-8173-58e965e4ef41_Method">
    <vt:lpwstr>Standard</vt:lpwstr>
  </property>
  <property fmtid="{D5CDD505-2E9C-101B-9397-08002B2CF9AE}" pid="5" name="MSIP_Label_444a753e-b937-4727-8173-58e965e4ef41_Name">
    <vt:lpwstr>0a306a40-471c-426e-91d6-468476917b5e</vt:lpwstr>
  </property>
  <property fmtid="{D5CDD505-2E9C-101B-9397-08002B2CF9AE}" pid="6" name="MSIP_Label_444a753e-b937-4727-8173-58e965e4ef41_SiteId">
    <vt:lpwstr>3cbcc3d3-094d-4006-9849-0d11d61f484d</vt:lpwstr>
  </property>
  <property fmtid="{D5CDD505-2E9C-101B-9397-08002B2CF9AE}" pid="7" name="MSIP_Label_444a753e-b937-4727-8173-58e965e4ef41_ActionId">
    <vt:lpwstr>2125eda5-0758-4e69-a35d-d023dfd8271b</vt:lpwstr>
  </property>
  <property fmtid="{D5CDD505-2E9C-101B-9397-08002B2CF9AE}" pid="8" name="MSIP_Label_444a753e-b937-4727-8173-58e965e4ef41_ContentBits">
    <vt:lpwstr>0</vt:lpwstr>
  </property>
  <property fmtid="{D5CDD505-2E9C-101B-9397-08002B2CF9AE}" pid="9" name="MSIP_Label_444a753e-b937-4727-8173-58e965e4ef41_Tag">
    <vt:lpwstr>10, 3, 0, 1</vt:lpwstr>
  </property>
</Properties>
</file>