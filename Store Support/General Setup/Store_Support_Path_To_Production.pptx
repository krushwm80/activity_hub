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1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Two-Part Investment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Path to Production Infrastructure + Activity Hub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C220"/>
                </a:solidFill>
              </a:defRPr>
            </a:pPr>
            <a:r>
              <a:t>Investment: $464K over 3 years | ROI: 5,420%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1CE"/>
                </a:solidFill>
              </a:defRPr>
            </a:pPr>
            <a:r>
              <a:t>We Need Two Approvals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48640"/>
          </a:xfrm>
          <a:prstGeom prst="rect">
            <a:avLst/>
          </a:prstGeom>
          <a:solidFill>
            <a:srgbClr val="0071CE"/>
          </a:solidFill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PART 1: Path to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🏗️ Infrastructure Foundation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$129K one-time + $90K/year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Enables ANY product deployment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3-year total: $409K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548640"/>
          </a:xfrm>
          <a:prstGeom prst="rect">
            <a:avLst/>
          </a:prstGeom>
          <a:solidFill>
            <a:srgbClr val="009600"/>
          </a:solidFill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PART 2: Activity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01168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🎯 Flagship Integration Platform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$55K one-time development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Unifies 16 Store Support tools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3-year total: $55K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1CE"/>
                </a:solidFill>
              </a:defRPr>
            </a:pPr>
            <a:r>
              <a:t>Why Two Separate Approvals?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solidFill>
            <a:srgbClr val="0071CE"/>
          </a:solidFill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Path to Production =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7680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✅ Production Azure environment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✅ Security &amp; compliance framework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✅ Development pipeline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✅ Testing &amp; deployment automation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Enables: Any future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solidFill>
            <a:srgbClr val="0071CE"/>
          </a:solidFill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Activity Hub = Proof of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94760"/>
            <a:ext cx="7680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✅ Central integration platform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✅ 16-tool ecosystem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✅ Real-time visibility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✅ Automated workflows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Demonstrates: Immediate ROI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7680960" cy="365760"/>
          </a:xfrm>
          <a:prstGeom prst="rect">
            <a:avLst/>
          </a:prstGeom>
          <a:solidFill>
            <a:srgbClr val="0071CE"/>
          </a:solidFill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Combined = Maximum Efficiency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7680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✅ No duplicate infrastructure costs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✅ Faster time to value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✅ Proven deployment model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✅ Scalable for 15+ future products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Delivers: $25.6M over 3 years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1CE"/>
                </a:solidFill>
              </a:defRPr>
            </a:pPr>
            <a:r>
              <a:t>Why We Need Both Investments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2286000"/>
          </a:xfrm>
          <a:prstGeom prst="rect">
            <a:avLst/>
          </a:prstGeom>
          <a:solidFill>
            <a:srgbClr val="FFF0F0"/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80000"/>
                </a:solidFill>
              </a:defRPr>
            </a:pPr>
            <a:r>
              <a:t>Fragmented Tools 🔴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15+ disconnected platforms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Manual data entry across systems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No single source of truth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Impact: 275 hrs/week wasted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2286000"/>
          </a:xfrm>
          <a:prstGeom prst="rect">
            <a:avLst/>
          </a:prstGeom>
          <a:solidFill>
            <a:srgbClr val="FFF0F0"/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80000"/>
                </a:solidFill>
              </a:defRPr>
            </a:pPr>
            <a:r>
              <a:t>No Production Capability 🔴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No secure deployment process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Each tool requires separate infrastructure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Compliance repeated per product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Impact: $184K per product waste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4114800" cy="2286000"/>
          </a:xfrm>
          <a:prstGeom prst="rect">
            <a:avLst/>
          </a:prstGeom>
          <a:solidFill>
            <a:srgbClr val="FFF0F0"/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80000"/>
                </a:solidFill>
              </a:defRPr>
            </a:pPr>
            <a:r>
              <a:t>Limited Visibility 🔴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Leadership lacks real-time data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Store communication chaos (30-40% overlap)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No systematic governance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Impact: Delayed decisions, confused stores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4114800"/>
            <a:ext cx="4114800" cy="2286000"/>
          </a:xfrm>
          <a:prstGeom prst="rect">
            <a:avLst/>
          </a:prstGeom>
          <a:solidFill>
            <a:srgbClr val="FFF0F0"/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80000"/>
                </a:solidFill>
              </a:defRPr>
            </a:pPr>
            <a:r>
              <a:t>Manual Processes 🔴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Spreadsheet-based tracking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Email coordination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No automation</a:t>
            </a:r>
          </a:p>
          <a:p>
            <a:pPr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Impact: $3.1M/year in inefficiency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1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PART 1:</a:t>
            </a:r>
          </a:p>
          <a:p>
            <a:r>
              <a:t>Path to Production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1CE"/>
                </a:solidFill>
              </a:defRPr>
            </a:pPr>
            <a:r>
              <a:t>What is Path to Production?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828800" cy="914400"/>
          </a:xfrm>
          <a:prstGeom prst="rect">
            <a:avLst/>
          </a:prstGeom>
          <a:solidFill>
            <a:srgbClr val="0071CE"/>
          </a:solidFill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Production Infrastructure</a:t>
            </a:r>
          </a:p>
          <a:p>
            <a:r>
              <a:t>$45K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3017520"/>
            <a:ext cx="1828800" cy="914400"/>
          </a:xfrm>
          <a:prstGeom prst="rect">
            <a:avLst/>
          </a:prstGeom>
          <a:solidFill>
            <a:srgbClr val="0071CE"/>
          </a:solidFill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Compliance &amp; Governance</a:t>
            </a:r>
          </a:p>
          <a:p>
            <a:r>
              <a:t>$15K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389120"/>
            <a:ext cx="1828800" cy="914400"/>
          </a:xfrm>
          <a:prstGeom prst="rect">
            <a:avLst/>
          </a:prstGeom>
          <a:solidFill>
            <a:srgbClr val="0071CE"/>
          </a:solidFill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Development Pipeline</a:t>
            </a:r>
          </a:p>
          <a:p>
            <a:r>
              <a:t>$25K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5760720"/>
            <a:ext cx="1828800" cy="914400"/>
          </a:xfrm>
          <a:prstGeom prst="rect">
            <a:avLst/>
          </a:prstGeom>
          <a:solidFill>
            <a:srgbClr val="0071CE"/>
          </a:solidFill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Operational Capability</a:t>
            </a:r>
          </a:p>
          <a:p>
            <a:r>
              <a:t>$44K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71CE"/>
                </a:solidFill>
              </a:defRPr>
            </a:pPr>
            <a:r>
              <a:t>Total Stack: $129K one-time → Enables unlimited products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1CE"/>
                </a:solidFill>
              </a:defRPr>
            </a:pPr>
            <a:r>
              <a:t>The Infrastructure Investment That Keeps Giving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23232"/>
                </a:solidFill>
              </a:defRPr>
            </a:pPr>
            <a:r>
              <a:t>Scenario: Deploy 5 Products Over 3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840480" cy="3200400"/>
          </a:xfrm>
          <a:prstGeom prst="rect">
            <a:avLst/>
          </a:prstGeom>
          <a:solidFill>
            <a:srgbClr val="FFF0F0"/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80000"/>
                </a:solidFill>
              </a:defRPr>
            </a:pPr>
            <a:r>
              <a:t>Without Path to Production (Traditional):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Product 1: $184K infrastructure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Product 2: $184K infrastructure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Product 3: $184K infrastructure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Product 4: $184K infrastructure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Product 5: $184K infrastructure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</a:p>
          <a:p>
            <a:pPr>
              <a:defRPr sz="1600" b="1">
                <a:solidFill>
                  <a:srgbClr val="323232"/>
                </a:solidFill>
              </a:defRPr>
            </a:pPr>
            <a:r>
              <a:t>Total: $920K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828800"/>
            <a:ext cx="3840480" cy="3200400"/>
          </a:xfrm>
          <a:prstGeom prst="rect">
            <a:avLst/>
          </a:prstGeom>
          <a:solidFill>
            <a:srgbClr val="F0FFF0"/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600"/>
                </a:solidFill>
              </a:defRPr>
            </a:pPr>
            <a:r>
              <a:t>With Path to Production: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Path to Production: $409K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Product 1 (Activity Hub): $55K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Product 2: $55K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Product 3: $55K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Product 4: $55K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Product 5: $55K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</a:p>
          <a:p>
            <a:pPr>
              <a:defRPr sz="1600" b="1">
                <a:solidFill>
                  <a:srgbClr val="323232"/>
                </a:solidFill>
              </a:defRPr>
            </a:pPr>
            <a:r>
              <a:t>Total: $684K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5303520"/>
            <a:ext cx="4572000" cy="914400"/>
          </a:xfrm>
          <a:prstGeom prst="rect">
            <a:avLst/>
          </a:prstGeom>
          <a:solidFill>
            <a:srgbClr val="FFC220"/>
          </a:solidFill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23232"/>
                </a:solidFill>
              </a:defRPr>
            </a:pPr>
            <a:r>
              <a:t>Savings: $236,000 (26% reduction)</a:t>
            </a:r>
          </a:p>
          <a:p>
            <a:r>
              <a:t>Break-Even: After 3 products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1CE"/>
                </a:solidFill>
              </a:defRPr>
            </a:pPr>
            <a:r>
              <a:t>Path to Production: 5 Months to Operational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Activities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Month 1-2:</a:t>
                      </a:r>
                    </a:p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APM registration, Team roster, Azure provisioning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Infrastructure live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Month 3-4:</a:t>
                      </a:r>
                    </a:p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Solution Security Plan, Security controls, Compliance 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SSP Approved status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Month 5:</a:t>
                      </a:r>
                    </a:p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CI/CD pipeline, Test environment, Training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Production-ready platform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Month 6+:</a:t>
                      </a:r>
                    </a:p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Deploy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Activity Hub deployment, Additional products follow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Value realization begins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6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PART 2:</a:t>
            </a:r>
          </a:p>
          <a:p>
            <a:r>
              <a:t>Activity Hub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1CE"/>
                </a:solidFill>
              </a:defRPr>
            </a:pPr>
            <a:r>
              <a:t>What is Activity Hub?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2743200" cy="1371600"/>
          </a:xfrm>
          <a:prstGeom prst="rect">
            <a:avLst/>
          </a:prstGeom>
          <a:solidFill>
            <a:srgbClr val="0071CE"/>
          </a:solidFill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Activity Hub</a:t>
            </a:r>
          </a:p>
          <a:p/>
          <a:p>
            <a:r>
              <a:t>Central Integration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1645920" cy="731520"/>
          </a:xfrm>
          <a:prstGeom prst="rect">
            <a:avLst/>
          </a:prstGeom>
          <a:solidFill>
            <a:srgbClr val="FFC220"/>
          </a:solidFill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23232"/>
                </a:solidFill>
              </a:defRPr>
            </a:pPr>
            <a:r>
              <a:t>Reporting (6)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645920"/>
            <a:ext cx="1645920" cy="731520"/>
          </a:xfrm>
          <a:prstGeom prst="rect">
            <a:avLst/>
          </a:prstGeom>
          <a:solidFill>
            <a:srgbClr val="FFC220"/>
          </a:solidFill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23232"/>
                </a:solidFill>
              </a:defRPr>
            </a:pPr>
            <a:r>
              <a:t>Intake (4)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1645920" cy="731520"/>
          </a:xfrm>
          <a:prstGeom prst="rect">
            <a:avLst/>
          </a:prstGeom>
          <a:solidFill>
            <a:srgbClr val="FFC220"/>
          </a:solidFill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23232"/>
                </a:solidFill>
              </a:defRPr>
            </a:pPr>
            <a:r>
              <a:t>Store Tools (3)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5303520"/>
            <a:ext cx="1645920" cy="731520"/>
          </a:xfrm>
          <a:prstGeom prst="rect">
            <a:avLst/>
          </a:prstGeom>
          <a:solidFill>
            <a:srgbClr val="FFC220"/>
          </a:solidFill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23232"/>
                </a:solidFill>
              </a:defRPr>
            </a:pPr>
            <a:r>
              <a:t>Specialized (3)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71CE"/>
                </a:solidFill>
              </a:defRPr>
            </a:pPr>
            <a:r>
              <a:t>One Way of Working for 4,700 stores and 100+ Home Office stakeholders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1CE"/>
                </a:solidFill>
              </a:defRPr>
            </a:pPr>
            <a:r>
              <a:t>The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48640"/>
          </a:xfrm>
          <a:prstGeom prst="rect">
            <a:avLst/>
          </a:prstGeom>
          <a:solidFill>
            <a:srgbClr val="C80000"/>
          </a:solidFill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BEFORE (Current State)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🔴 15+ disconnected tools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🔴 275 hours/week manual work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🔴 30-40% message overlap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🔴 No real-time visibility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🔴 Spreadsheet tracking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🔴 Email coordination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🔴 Store confusion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548640"/>
          </a:xfrm>
          <a:prstGeom prst="rect">
            <a:avLst/>
          </a:prstGeom>
          <a:solidFill>
            <a:srgbClr val="009600"/>
          </a:solidFill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AFTER (With Activity Hub)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01168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1 integrated platform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58 hours/week automated work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5% message overlap (smart detection)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Real-time executive dashboard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Automated tracking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Workflow automation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Clear store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solidFill>
            <a:srgbClr val="FFC220"/>
          </a:solidFill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23232"/>
                </a:solidFill>
              </a:defRPr>
            </a:pPr>
            <a:r>
              <a:t>Time Saved: 217 hours/week | Efficiency Gained: 79%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1CE"/>
                </a:solidFill>
              </a:defRPr>
            </a:pPr>
            <a:r>
              <a:t>$3.1M Annual Benefits Across Four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114800" cy="2011680"/>
          </a:xfrm>
          <a:prstGeom prst="rect">
            <a:avLst/>
          </a:prstGeom>
          <a:solidFill>
            <a:srgbClr val="F0FAFF"/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1CE"/>
                </a:solidFill>
              </a:defRPr>
            </a:pPr>
            <a:r>
              <a:t>Time Savings 💰</a:t>
            </a:r>
          </a:p>
          <a:p>
            <a:pPr>
              <a:defRPr sz="2200" b="1">
                <a:solidFill>
                  <a:srgbClr val="009600"/>
                </a:solidFill>
              </a:defRPr>
            </a:pPr>
            <a:r>
              <a:t>$564,200/year</a:t>
            </a:r>
          </a:p>
          <a:p>
            <a:pPr>
              <a:spcAft>
                <a:spcPts val="300"/>
              </a:spcAft>
              <a:defRPr sz="1200">
                <a:solidFill>
                  <a:srgbClr val="323232"/>
                </a:solidFill>
              </a:defRPr>
            </a:pPr>
            <a:r>
              <a:t>• Manual reporting: 100 hrs/week saved</a:t>
            </a:r>
          </a:p>
          <a:p>
            <a:pPr>
              <a:spcAft>
                <a:spcPts val="300"/>
              </a:spcAft>
              <a:defRPr sz="1200">
                <a:solidFill>
                  <a:srgbClr val="323232"/>
                </a:solidFill>
              </a:defRPr>
            </a:pPr>
            <a:r>
              <a:t>• Communication: 30 hrs/week saved</a:t>
            </a:r>
          </a:p>
          <a:p>
            <a:pPr>
              <a:spcAft>
                <a:spcPts val="300"/>
              </a:spcAft>
              <a:defRPr sz="1200">
                <a:solidFill>
                  <a:srgbClr val="323232"/>
                </a:solidFill>
              </a:defRPr>
            </a:pPr>
            <a:r>
              <a:t>• Issue tracking: 45 hrs/week saved</a:t>
            </a:r>
          </a:p>
          <a:p>
            <a:pPr>
              <a:spcAft>
                <a:spcPts val="300"/>
              </a:spcAft>
              <a:defRPr sz="1200">
                <a:solidFill>
                  <a:srgbClr val="323232"/>
                </a:solidFill>
              </a:defRPr>
            </a:pPr>
            <a:r>
              <a:t>• Tour data: 25 hrs/week saved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645920"/>
            <a:ext cx="4114800" cy="2011680"/>
          </a:xfrm>
          <a:prstGeom prst="rect">
            <a:avLst/>
          </a:prstGeom>
          <a:solidFill>
            <a:srgbClr val="F0FAFF"/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1CE"/>
                </a:solidFill>
              </a:defRPr>
            </a:pPr>
            <a:r>
              <a:t>Communication Efficiency 💰</a:t>
            </a:r>
          </a:p>
          <a:p>
            <a:pPr>
              <a:defRPr sz="2200" b="1">
                <a:solidFill>
                  <a:srgbClr val="009600"/>
                </a:solidFill>
              </a:defRPr>
            </a:pPr>
            <a:r>
              <a:t>$481,000/year</a:t>
            </a:r>
          </a:p>
          <a:p>
            <a:pPr>
              <a:spcAft>
                <a:spcPts val="300"/>
              </a:spcAft>
              <a:defRPr sz="1200">
                <a:solidFill>
                  <a:srgbClr val="323232"/>
                </a:solidFill>
              </a:defRPr>
            </a:pPr>
            <a:r>
              <a:t>• 30% reduction in message overlap</a:t>
            </a:r>
          </a:p>
          <a:p>
            <a:pPr>
              <a:spcAft>
                <a:spcPts val="300"/>
              </a:spcAft>
              <a:defRPr sz="1200">
                <a:solidFill>
                  <a:srgbClr val="323232"/>
                </a:solidFill>
              </a:defRPr>
            </a:pPr>
            <a:r>
              <a:t>• 25% increase in targeted messaging</a:t>
            </a:r>
          </a:p>
          <a:p>
            <a:pPr>
              <a:spcAft>
                <a:spcPts val="300"/>
              </a:spcAft>
              <a:defRPr sz="1200">
                <a:solidFill>
                  <a:srgbClr val="323232"/>
                </a:solidFill>
              </a:defRPr>
            </a:pPr>
            <a:r>
              <a:t>• Reduced store confusion/rework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4114800" cy="2011680"/>
          </a:xfrm>
          <a:prstGeom prst="rect">
            <a:avLst/>
          </a:prstGeom>
          <a:solidFill>
            <a:srgbClr val="F0FAFF"/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1CE"/>
                </a:solidFill>
              </a:defRPr>
            </a:pPr>
            <a:r>
              <a:t>Governance &amp; Decisions 💰</a:t>
            </a:r>
          </a:p>
          <a:p>
            <a:pPr>
              <a:defRPr sz="2200" b="1">
                <a:solidFill>
                  <a:srgbClr val="009600"/>
                </a:solidFill>
              </a:defRPr>
            </a:pPr>
            <a:r>
              <a:t>$470,000/year</a:t>
            </a:r>
          </a:p>
          <a:p>
            <a:pPr>
              <a:spcAft>
                <a:spcPts val="300"/>
              </a:spcAft>
              <a:defRPr sz="1200">
                <a:solidFill>
                  <a:srgbClr val="323232"/>
                </a:solidFill>
              </a:defRPr>
            </a:pPr>
            <a:r>
              <a:t>• Real-time visibility → faster decisions</a:t>
            </a:r>
          </a:p>
          <a:p>
            <a:pPr>
              <a:spcAft>
                <a:spcPts val="300"/>
              </a:spcAft>
              <a:defRPr sz="1200">
                <a:solidFill>
                  <a:srgbClr val="323232"/>
                </a:solidFill>
              </a:defRPr>
            </a:pPr>
            <a:r>
              <a:t>• Conflict detection → prevents duplicates</a:t>
            </a:r>
          </a:p>
          <a:p>
            <a:pPr>
              <a:spcAft>
                <a:spcPts val="300"/>
              </a:spcAft>
              <a:defRPr sz="1200">
                <a:solidFill>
                  <a:srgbClr val="323232"/>
                </a:solidFill>
              </a:defRPr>
            </a:pPr>
            <a:r>
              <a:t>• Data-driven resource 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4114800"/>
            <a:ext cx="4114800" cy="2011680"/>
          </a:xfrm>
          <a:prstGeom prst="rect">
            <a:avLst/>
          </a:prstGeom>
          <a:solidFill>
            <a:srgbClr val="F0FAFF"/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1CE"/>
                </a:solidFill>
              </a:defRPr>
            </a:pPr>
            <a:r>
              <a:t>Store Productivity 💰</a:t>
            </a:r>
          </a:p>
          <a:p>
            <a:pPr>
              <a:defRPr sz="2200" b="1">
                <a:solidFill>
                  <a:srgbClr val="009600"/>
                </a:solidFill>
              </a:defRPr>
            </a:pPr>
            <a:r>
              <a:t>$1,631,000/year</a:t>
            </a:r>
          </a:p>
          <a:p>
            <a:pPr>
              <a:spcAft>
                <a:spcPts val="300"/>
              </a:spcAft>
              <a:defRPr sz="1200">
                <a:solidFill>
                  <a:srgbClr val="323232"/>
                </a:solidFill>
              </a:defRPr>
            </a:pPr>
            <a:r>
              <a:t>• 4,700 stores × 2.5 hrs/week saved</a:t>
            </a:r>
          </a:p>
          <a:p>
            <a:pPr>
              <a:spcAft>
                <a:spcPts val="300"/>
              </a:spcAft>
              <a:defRPr sz="1200">
                <a:solidFill>
                  <a:srgbClr val="323232"/>
                </a:solidFill>
              </a:defRPr>
            </a:pPr>
            <a:r>
              <a:t>• Streamlined issue reporting</a:t>
            </a:r>
          </a:p>
          <a:p>
            <a:pPr>
              <a:spcAft>
                <a:spcPts val="300"/>
              </a:spcAft>
              <a:defRPr sz="1200">
                <a:solidFill>
                  <a:srgbClr val="323232"/>
                </a:solidFill>
              </a:defRPr>
            </a:pPr>
            <a:r>
              <a:t>• Efficient tour coordination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71CE"/>
                </a:solidFill>
              </a:defRPr>
            </a:pPr>
            <a:r>
              <a:t>Total Annual Benefit: $3,146,200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1CE"/>
                </a:solidFill>
              </a:defRPr>
            </a:pPr>
            <a:r>
              <a:t>$55K Development Leverages $129K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840480" cy="2743200"/>
          </a:xfrm>
          <a:prstGeom prst="rect">
            <a:avLst/>
          </a:prstGeom>
          <a:solidFill>
            <a:srgbClr val="F0FFF0"/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600"/>
                </a:solidFill>
              </a:defRPr>
            </a:pPr>
            <a:r>
              <a:t>Activity Hub Development Only: $55,000</a:t>
            </a:r>
          </a:p>
          <a:p>
            <a:pPr>
              <a:spcAft>
                <a:spcPts val="200"/>
              </a:spcAft>
              <a:defRPr sz="1300">
                <a:solidFill>
                  <a:srgbClr val="323232"/>
                </a:solidFill>
              </a:defRPr>
            </a:pPr>
            <a:r>
              <a:t>Integration Development: $35,000 (64%)</a:t>
            </a:r>
          </a:p>
          <a:p>
            <a:pPr>
              <a:spcAft>
                <a:spcPts val="200"/>
              </a:spcAft>
              <a:defRPr sz="1300">
                <a:solidFill>
                  <a:srgbClr val="323232"/>
                </a:solidFill>
              </a:defRPr>
            </a:pPr>
            <a:r>
              <a:t>  • Core API development</a:t>
            </a:r>
          </a:p>
          <a:p>
            <a:pPr>
              <a:spcAft>
                <a:spcPts val="200"/>
              </a:spcAft>
              <a:defRPr sz="1300">
                <a:solidFill>
                  <a:srgbClr val="323232"/>
                </a:solidFill>
              </a:defRPr>
            </a:pPr>
            <a:r>
              <a:t>  • 16 platform connectors</a:t>
            </a:r>
          </a:p>
          <a:p>
            <a:pPr>
              <a:spcAft>
                <a:spcPts val="200"/>
              </a:spcAft>
              <a:defRPr sz="1300">
                <a:solidFill>
                  <a:srgbClr val="323232"/>
                </a:solidFill>
              </a:defRPr>
            </a:pPr>
            <a:r>
              <a:t>  • Authentication &amp; data model</a:t>
            </a:r>
          </a:p>
          <a:p>
            <a:pPr>
              <a:spcAft>
                <a:spcPts val="200"/>
              </a:spcAft>
              <a:defRPr sz="1300">
                <a:solidFill>
                  <a:srgbClr val="323232"/>
                </a:solidFill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23232"/>
                </a:solidFill>
              </a:defRPr>
            </a:pPr>
            <a:r>
              <a:t>Data Migration: $20,000 (36%)</a:t>
            </a:r>
          </a:p>
          <a:p>
            <a:pPr>
              <a:spcAft>
                <a:spcPts val="200"/>
              </a:spcAft>
              <a:defRPr sz="1300">
                <a:solidFill>
                  <a:srgbClr val="323232"/>
                </a:solidFill>
              </a:defRPr>
            </a:pPr>
            <a:r>
              <a:t>  • Legacy data extraction</a:t>
            </a:r>
          </a:p>
          <a:p>
            <a:pPr>
              <a:spcAft>
                <a:spcPts val="200"/>
              </a:spcAft>
              <a:defRPr sz="1300">
                <a:solidFill>
                  <a:srgbClr val="323232"/>
                </a:solidFill>
              </a:defRPr>
            </a:pPr>
            <a:r>
              <a:t>  • Cleanup &amp; standardization</a:t>
            </a:r>
          </a:p>
          <a:p>
            <a:pPr>
              <a:spcAft>
                <a:spcPts val="200"/>
              </a:spcAft>
              <a:defRPr sz="1300">
                <a:solidFill>
                  <a:srgbClr val="323232"/>
                </a:solidFill>
              </a:defRPr>
            </a:pPr>
            <a:r>
              <a:t>  • Schema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645920"/>
            <a:ext cx="3840480" cy="2743200"/>
          </a:xfrm>
          <a:prstGeom prst="rect">
            <a:avLst/>
          </a:prstGeom>
          <a:solidFill>
            <a:srgbClr val="F0F0FF"/>
          </a:solidFill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1CE"/>
                </a:solidFill>
              </a:defRPr>
            </a:pPr>
            <a:r>
              <a:t>Leverages Path to Production (Already Paid):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  <a:r>
              <a:t>Azure infrastructure: $45K ✓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  <a:r>
              <a:t>Security &amp; compliance: $15K ✓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  <a:r>
              <a:t>Testing &amp; QA: $25K ✓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  <a:r>
              <a:t>Training &amp; docs: $20K ✓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  <a:r>
              <a:t>Contingency: $24K 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6400800" cy="1371600"/>
          </a:xfrm>
          <a:prstGeom prst="rect">
            <a:avLst/>
          </a:prstGeom>
          <a:solidFill>
            <a:srgbClr val="FFC220"/>
          </a:solidFill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23232"/>
                </a:solidFill>
              </a:defRPr>
            </a:pPr>
            <a:r>
              <a:t>Total Activity Hub Cost: $55K + $129K = $184K</a:t>
            </a:r>
          </a:p>
          <a:p>
            <a:r>
              <a:t>Recurring Costs: $0 (covered by Path to Production)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1CE"/>
                </a:solidFill>
              </a:defRPr>
            </a:pPr>
            <a:r>
              <a:t>Activity Hub ROI: 21-Day Payback Period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</a:tblGrid>
              <a:tr h="316523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Total 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$184,000 (one-time)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Annual 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$3,146,200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Year 1 Net 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$2,962,200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Year 1 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1,610%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3-Year Total 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$9,919,200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3-Year Net 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$9,735,200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3-Year ROI</a:t>
                      </a:r>
                    </a:p>
                  </a:txBody>
                  <a:tcPr>
                    <a:solidFill>
                      <a:srgbClr val="FFC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5,292%</a:t>
                      </a:r>
                    </a:p>
                  </a:txBody>
                  <a:tcPr>
                    <a:solidFill>
                      <a:srgbClr val="FFC220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Break-Even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Month 1, Week 3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Payback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21 days</a:t>
                      </a:r>
                    </a:p>
                  </a:txBody>
                  <a:tcPr/>
                </a:tc>
              </a:tr>
              <a:tr h="31652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NPV (8% discount)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$8,960,000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28800" y="5943600"/>
            <a:ext cx="5486400" cy="548640"/>
          </a:xfrm>
          <a:prstGeom prst="rect">
            <a:avLst/>
          </a:prstGeom>
          <a:solidFill>
            <a:srgbClr val="FFC220"/>
          </a:solidFill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23232"/>
                </a:solidFill>
              </a:defRPr>
            </a:pPr>
            <a:r>
              <a:t>Every dollar invested returns $53 over 3 years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1CE"/>
                </a:solidFill>
              </a:defRPr>
            </a:pPr>
            <a:r>
              <a:t>Activity Hub: 8 Months to Full Deployment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Activities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Months 1-3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Requirements, data model, API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Design complete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Core 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Months 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API dev, authentication, 6 core integrations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Core platform functional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Months 5-7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10 remaining integrations, data migration,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All 16 platforms connected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Launch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Month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Training, deployment, phased onboarding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Activity Hub live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Optimize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Month 8+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Monitor, gather feedback, continuous improvement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Full suite operational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1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Combined Investment</a:t>
            </a:r>
          </a:p>
          <a:p>
            <a:r>
              <a:t>&amp; ROI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1CE"/>
                </a:solidFill>
              </a:defRPr>
            </a:pPr>
            <a:r>
              <a:t>Total 3-Year Investment: $464,000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One-Time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Year 1 Recurring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Year 2 Recurring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Year 3 Recurring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3-Year Total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Path to 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$129,000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$90,000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$92,500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$97,500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$409,000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Activity 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$55,000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$55,000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C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$184,000</a:t>
                      </a:r>
                    </a:p>
                  </a:txBody>
                  <a:tcPr>
                    <a:solidFill>
                      <a:srgbClr val="FFC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$90,000</a:t>
                      </a:r>
                    </a:p>
                  </a:txBody>
                  <a:tcPr>
                    <a:solidFill>
                      <a:srgbClr val="FFC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$92,500</a:t>
                      </a:r>
                    </a:p>
                  </a:txBody>
                  <a:tcPr>
                    <a:solidFill>
                      <a:srgbClr val="FFC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$97,500</a:t>
                      </a:r>
                    </a:p>
                  </a:txBody>
                  <a:tcPr>
                    <a:solidFill>
                      <a:srgbClr val="FFC2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$464,000</a:t>
                      </a:r>
                    </a:p>
                  </a:txBody>
                  <a:tcPr>
                    <a:solidFill>
                      <a:srgbClr val="FFC2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1CE"/>
                </a:solidFill>
              </a:defRPr>
            </a:pPr>
            <a:r>
              <a:t>$25.6M Total Value Over 3 Years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64008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C80000"/>
                </a:solidFill>
              </a:defRPr>
            </a:pPr>
            <a:r>
              <a:t>Investment Base: -$464,000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6400800" cy="64008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009600"/>
                </a:solidFill>
              </a:defRPr>
            </a:pPr>
            <a:r>
              <a:t>Activity Hub Direct Benefits: +$9,919,200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6400800" cy="64008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009600"/>
                </a:solidFill>
              </a:defRPr>
            </a:pPr>
            <a:r>
              <a:t>Future Products Enabled: +$15,700,000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6400800" cy="64008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1CE"/>
                </a:solidFill>
              </a:defRPr>
            </a:pPr>
            <a:r>
              <a:t>Total Value: $25,619,200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6400800" cy="64008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1CE"/>
                </a:solidFill>
              </a:defRPr>
            </a:pPr>
            <a:r>
              <a:t>Net Benefit: $25,155,200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217920"/>
            <a:ext cx="6400800" cy="640080"/>
          </a:xfrm>
          <a:prstGeom prst="rect">
            <a:avLst/>
          </a:prstGeom>
          <a:solidFill>
            <a:srgbClr val="FFC220"/>
          </a:solidFill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23232"/>
                </a:solidFill>
              </a:defRPr>
            </a:pPr>
            <a:r>
              <a:t>Combined ROI: 5,420%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1CE"/>
                </a:solidFill>
              </a:defRPr>
            </a:pPr>
            <a:r>
              <a:t>Risks Are Manageable with Clear Mitigation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0071C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User Adoption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Phased rollout, training, exec sponsorship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Integration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API-first design, thorough testing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Security/Compliance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Follow Production_Path, security audits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Data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Validation rules, migration testing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Timeline Delays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15% contingency buffer, agile approach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1CE"/>
                </a:solidFill>
              </a:defRPr>
            </a:pPr>
            <a:r>
              <a:t>How We'll Measure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48640"/>
          </a:xfrm>
          <a:prstGeom prst="rect">
            <a:avLst/>
          </a:prstGeom>
          <a:solidFill>
            <a:srgbClr val="0071CE"/>
          </a:solidFill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Path to Production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APM Certified status achieved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SSP Approved status achieved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CI/CD pipeline operational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&lt;2 week deployment time for new products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Zero security incidents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548640"/>
          </a:xfrm>
          <a:prstGeom prst="rect">
            <a:avLst/>
          </a:prstGeom>
          <a:solidFill>
            <a:srgbClr val="009600"/>
          </a:solidFill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Activity Hub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01168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16 platforms integrated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100+ users onboarded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275 → 58 hours/week (79% reduction)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30% → 5% message overlap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$3.1M+ annual benefits achieved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✅ 95%+ user satisfaction score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1CE"/>
                </a:solidFill>
              </a:defRPr>
            </a:pPr>
            <a:r>
              <a:t>What We Need from Leadership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1645920"/>
          </a:xfrm>
          <a:prstGeom prst="rect">
            <a:avLst/>
          </a:prstGeom>
          <a:solidFill>
            <a:srgbClr val="F0F5FF"/>
          </a:solidFill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1CE"/>
                </a:solidFill>
              </a:defRPr>
            </a:pPr>
            <a:r>
              <a:t>☐ Approval #1: Path to Production Infrastructure</a:t>
            </a:r>
          </a:p>
          <a:p>
            <a:pPr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  • Investment: $129,000 one-time + $90,000/year</a:t>
            </a:r>
          </a:p>
          <a:p>
            <a:pPr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  • Deliverable: Enterprise development and deployment capability</a:t>
            </a:r>
          </a:p>
          <a:p>
            <a:pPr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  • Timeline: 5 months to operational</a:t>
            </a:r>
          </a:p>
          <a:p>
            <a:pPr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  • Value: Enables ALL future Store Support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7680960" cy="1645920"/>
          </a:xfrm>
          <a:prstGeom prst="rect">
            <a:avLst/>
          </a:prstGeom>
          <a:solidFill>
            <a:srgbClr val="F0FFF0"/>
          </a:solidFill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9600"/>
                </a:solidFill>
              </a:defRPr>
            </a:pPr>
            <a:r>
              <a:t>☐ Approval #2: Activity Hub Platform</a:t>
            </a:r>
          </a:p>
          <a:p>
            <a:pPr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  • Investment: $55,000 development (one-time)</a:t>
            </a:r>
          </a:p>
          <a:p>
            <a:pPr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  • Deliverable: Integrated platform unifying 16 tools</a:t>
            </a:r>
          </a:p>
          <a:p>
            <a:pPr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  • Timeline: 8 months to production launch</a:t>
            </a:r>
          </a:p>
          <a:p>
            <a:pPr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  • Value: $9.9M over 3 years, 5,292%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6400800" cy="1188720"/>
          </a:xfrm>
          <a:prstGeom prst="rect">
            <a:avLst/>
          </a:prstGeom>
          <a:solidFill>
            <a:srgbClr val="FFC220"/>
          </a:solidFill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23232"/>
                </a:solidFill>
              </a:defRPr>
            </a:pPr>
            <a:r>
              <a:t>☐ Combined Package:</a:t>
            </a:r>
          </a:p>
          <a:p>
            <a:pPr algn="ctr">
              <a:defRPr sz="1600" b="1">
                <a:solidFill>
                  <a:srgbClr val="323232"/>
                </a:solidFill>
              </a:defRPr>
            </a:pPr>
            <a:r>
              <a:t>Total Investment: $464,000 over 3 years | Total Value: $25.6M | ROI: 5,420%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1CE"/>
                </a:solidFill>
              </a:defRPr>
            </a:pPr>
            <a:r>
              <a:t>The Opportunity Cost of Waiting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48640"/>
          </a:xfrm>
          <a:prstGeom prst="rect">
            <a:avLst/>
          </a:prstGeom>
          <a:solidFill>
            <a:srgbClr val="009600"/>
          </a:solidFill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Scenario 1: Approve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Launch: August 2026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Year 1 benefit: $3.1M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3-year benefit: $9.9M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Future products: 15+ enabled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548640"/>
          </a:xfrm>
          <a:prstGeom prst="rect">
            <a:avLst/>
          </a:prstGeom>
          <a:solidFill>
            <a:srgbClr val="C80000"/>
          </a:solidFill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Scenario 2: Delay 6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01168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Launch: February 2027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Year 1 benefit: $1.6M (partial year)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Lost value: $1.5M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Future products: Delayed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6217920"/>
            <a:ext cx="5486400" cy="548640"/>
          </a:xfrm>
          <a:prstGeom prst="rect">
            <a:avLst/>
          </a:prstGeom>
          <a:solidFill>
            <a:srgbClr val="C80000"/>
          </a:solidFill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23232"/>
                </a:solidFill>
              </a:defRPr>
            </a:pPr>
            <a:r>
              <a:t>Every month of delay costs $262,000 in unrealized benefits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1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Ready to Transform Store Support?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C220"/>
                </a:solidFill>
              </a:defRPr>
            </a:pPr>
            <a:r>
              <a:t>Today's Decision:</a:t>
            </a:r>
          </a:p>
          <a:p>
            <a:pPr algn="ctr">
              <a:spcAft>
                <a:spcPts val="1200"/>
              </a:spcAft>
              <a:defRPr sz="2800" b="1">
                <a:solidFill>
                  <a:srgbClr val="FFFFFF"/>
                </a:solidFill>
              </a:defRPr>
            </a:pPr>
            <a:r>
              <a:t>☑️ Approve Path to Production Infrastructure</a:t>
            </a:r>
          </a:p>
          <a:p>
            <a:pPr algn="ctr">
              <a:spcAft>
                <a:spcPts val="1200"/>
              </a:spcAft>
              <a:defRPr sz="2800" b="1">
                <a:solidFill>
                  <a:srgbClr val="FFFFFF"/>
                </a:solidFill>
              </a:defRPr>
            </a:pPr>
            <a:r>
              <a:t>☑️ Approve Activity Hub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C220"/>
                </a:solidFill>
              </a:defRPr>
            </a:pPr>
            <a:r>
              <a:t>$464,000 investment | $25.6M value | 5,420% ROI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Target Production Launch: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9436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Let's Build the Future of Store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